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914400"/>
            <a:ext cx="10362895" cy="5029200"/>
          </a:xfrm>
          <a:prstGeom prst="roundRect">
            <a:avLst/>
          </a:prstGeom>
          <a:solidFill>
            <a:srgbClr val="14203C"/>
          </a:solidFill>
          <a:ln w="1905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234440"/>
            <a:ext cx="9418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C9A7"/>
                </a:solidFill>
                <a:latin typeface="Arial"/>
              </a:defRPr>
            </a:pPr>
            <a:r>
              <a:t>ASSAM ENGINEERING COLLEGE • DEPARTMENT OF ELECTRONICS &amp; TELECOMMUNICATION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4592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Arial"/>
              </a:defRPr>
            </a:pPr>
            <a:r>
              <a:t>FracAtlas Medical Vision-Language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65176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4DABF7"/>
                </a:solidFill>
                <a:latin typeface="Arial"/>
              </a:defRPr>
            </a:pPr>
            <a:r>
              <a:t>Multimodal AI for Musculoskeletal Fracture Detection, Conversational Med-VQA, and Automated Clinical Report Generation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383280"/>
            <a:ext cx="9418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8FAFC"/>
                </a:solidFill>
                <a:latin typeface="Arial"/>
              </a:defRPr>
            </a:pPr>
            <a:r>
              <a:t>📌 Major Project (B.Tech 7th Semester) — Milestone Review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3931920"/>
            <a:ext cx="4572000" cy="1645920"/>
          </a:xfrm>
          <a:prstGeom prst="roundRect">
            <a:avLst/>
          </a:prstGeom>
          <a:solidFill>
            <a:srgbClr val="0F172A"/>
          </a:solidFill>
          <a:ln>
            <a:solidFill>
              <a:srgbClr val="1E30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00C9A7"/>
                </a:solidFill>
              </a:defRPr>
            </a:pPr>
            <a:r>
              <a:t>PROJECT TEAM MEMBERS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• Sahanawaz Hussain — Project Lead (Architecture &amp; Inference)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• Aryan — Member (Preprocessing &amp; Benchmark)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• Pranita — Member (Med-VQA UI &amp; ReportLab PDF)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31920"/>
            <a:ext cx="4572000" cy="1645920"/>
          </a:xfrm>
          <a:prstGeom prst="roundRect">
            <a:avLst/>
          </a:prstGeom>
          <a:solidFill>
            <a:srgbClr val="0F172A"/>
          </a:solidFill>
          <a:ln>
            <a:solidFill>
              <a:srgbClr val="1E30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00C9A7"/>
                </a:solidFill>
              </a:defRPr>
            </a:pPr>
            <a:r>
              <a:t>PROJECT DETAILS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• Department: Electronics &amp; Telecommunication Engineering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• Institution: Assam Engineering College, Jalukbari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• GitHub Repo: github.com/Sahanawaz233/medical-vlm-fracatlas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C9A7"/>
                </a:solidFill>
                <a:latin typeface="Arial"/>
              </a:defRPr>
            </a:pPr>
            <a:r>
              <a:t>MEDICAL VISION-LANGUAGE MODEL (VLM)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Clinical Need Analysis &amp; Problem Background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0" y="502920"/>
            <a:ext cx="685800" cy="320040"/>
          </a:xfrm>
          <a:prstGeom prst="roundRect">
            <a:avLst/>
          </a:prstGeom>
          <a:solidFill>
            <a:srgbClr val="14203C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8FAFC"/>
                </a:solidFill>
                <a:latin typeface="Arial"/>
              </a:defRPr>
            </a:pPr>
            <a:r>
              <a:t>2/12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257800" cy="2240280"/>
          </a:xfrm>
          <a:prstGeom prst="roundRect">
            <a:avLst/>
          </a:prstGeom>
          <a:solidFill>
            <a:srgbClr val="14203C"/>
          </a:solidFill>
          <a:ln>
            <a:solidFill>
              <a:srgbClr val="1E30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4DABF7"/>
                </a:solidFill>
              </a:defRPr>
            </a:pPr>
            <a:r>
              <a:t>🚨 Emergency Triage Bottleneck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Emergency trauma centers experience severe radiologist shortages during off-peak hours and night shifts.</a:t>
            </a:r>
            <a:br/>
            <a:br/>
            <a:r>
              <a:t>Initial radiographs are frequently evaluated by non-radiologist emergency physicians under severe time constraints.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508760"/>
            <a:ext cx="5257800" cy="2240280"/>
          </a:xfrm>
          <a:prstGeom prst="roundRect">
            <a:avLst/>
          </a:prstGeom>
          <a:solidFill>
            <a:srgbClr val="14203C"/>
          </a:solidFill>
          <a:ln>
            <a:solidFill>
              <a:srgbClr val="1E30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4DABF7"/>
                </a:solidFill>
              </a:defRPr>
            </a:pPr>
            <a:r>
              <a:t>⚠️ 80% Missed Fracture Risk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Clinical studies confirm missed bone fractures account for up to 80% of emergency department diagnostic errors.</a:t>
            </a:r>
            <a:br/>
            <a:br/>
            <a:r>
              <a:t>Overlooked hairline and non-displaced fractures lead to malunion, chronic pain, and avoidable joint arthrosis.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257800" cy="2240280"/>
          </a:xfrm>
          <a:prstGeom prst="roundRect">
            <a:avLst/>
          </a:prstGeom>
          <a:solidFill>
            <a:srgbClr val="14203C"/>
          </a:solidFill>
          <a:ln>
            <a:solidFill>
              <a:srgbClr val="1E30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4DABF7"/>
                </a:solidFill>
              </a:defRPr>
            </a:pPr>
            <a:r>
              <a:t>📦 Limits of Conventional CAD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Traditional deep learning models (CNNs) output only raw bounding boxes or binary heatmaps.</a:t>
            </a:r>
            <a:br/>
            <a:br/>
            <a:r>
              <a:t>They are unable to explain their diagnostic reasoning, answer physician questions, or author verifiable clinical reports.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931920"/>
            <a:ext cx="5257800" cy="2240280"/>
          </a:xfrm>
          <a:prstGeom prst="roundRect">
            <a:avLst/>
          </a:prstGeom>
          <a:solidFill>
            <a:srgbClr val="14203C"/>
          </a:solidFill>
          <a:ln>
            <a:solidFill>
              <a:srgbClr val="1E30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00C9A7"/>
                </a:solidFill>
              </a:defRPr>
            </a:pPr>
            <a:r>
              <a:t>💡 Multimodal AI Solution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Our system bridges the vision-language gap for musculoskeletal trauma:</a:t>
            </a:r>
            <a:br/>
            <a:br/>
            <a:r>
              <a:t>• Point-of-care fracture detection</a:t>
            </a:r>
            <a:br/>
            <a:r>
              <a:t>• Interactive conversational Med-VQA</a:t>
            </a:r>
            <a:br/>
            <a:r>
              <a:t>• Automated, signed ACR radiology reports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C9A7"/>
                </a:solidFill>
                <a:latin typeface="Arial"/>
              </a:defRPr>
            </a:pPr>
            <a:r>
              <a:t>MEDICAL VISION-LANGUAGE MODEL (VLM)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Problem Statement &amp; Project Objectives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0" y="502920"/>
            <a:ext cx="685800" cy="320040"/>
          </a:xfrm>
          <a:prstGeom prst="roundRect">
            <a:avLst/>
          </a:prstGeom>
          <a:solidFill>
            <a:srgbClr val="14203C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8FAFC"/>
                </a:solidFill>
                <a:latin typeface="Arial"/>
              </a:defRPr>
            </a:pPr>
            <a:r>
              <a:t>3/12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10728655" cy="12801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00C9A7"/>
                </a:solidFill>
              </a:defRPr>
            </a:pPr>
            <a:r>
              <a:t>🎯 FORMAL PROBLEM STATEMENT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To design, train, and evaluate a Multimodal Vision-Language Model tailored for musculoskeletal trauma radiographs that performs acute fracture detection, interactive conversational Med-VQA, and automated structured reporting for emergency triage.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17520"/>
            <a:ext cx="2542032" cy="3291840"/>
          </a:xfrm>
          <a:prstGeom prst="roundRect">
            <a:avLst/>
          </a:prstGeom>
          <a:solidFill>
            <a:srgbClr val="14203C"/>
          </a:solidFill>
          <a:ln>
            <a:solidFill>
              <a:srgbClr val="1E30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4DABF7"/>
                </a:solidFill>
              </a:defRPr>
            </a:pPr>
            <a:r>
              <a:t>1. Instruction Tuning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Convert raw bounding annotations into 1,438 LLaVA multi-turn clinical dialogue pairs with balanced negative controls.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3017520"/>
            <a:ext cx="2542032" cy="3291840"/>
          </a:xfrm>
          <a:prstGeom prst="roundRect">
            <a:avLst/>
          </a:prstGeom>
          <a:solidFill>
            <a:srgbClr val="14203C"/>
          </a:solidFill>
          <a:ln>
            <a:solidFill>
              <a:srgbClr val="1E30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4DABF7"/>
                </a:solidFill>
              </a:defRPr>
            </a:pPr>
            <a:r>
              <a:t>2. Fracture Localization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Accurately detect and localize acute bone cortical disruptions across 11 major musculoskeletal extremities.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3017520"/>
            <a:ext cx="2542032" cy="3291840"/>
          </a:xfrm>
          <a:prstGeom prst="roundRect">
            <a:avLst/>
          </a:prstGeom>
          <a:solidFill>
            <a:srgbClr val="14203C"/>
          </a:solidFill>
          <a:ln>
            <a:solidFill>
              <a:srgbClr val="1E30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4DABF7"/>
                </a:solidFill>
              </a:defRPr>
            </a:pPr>
            <a:r>
              <a:t>3. Conversational Med-VQA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Enable clinicians to interact with X-rays regarding bone integrity, hardware, and joint alignment in natural language.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06256" y="3017520"/>
            <a:ext cx="2542032" cy="3291840"/>
          </a:xfrm>
          <a:prstGeom prst="roundRect">
            <a:avLst/>
          </a:prstGeom>
          <a:solidFill>
            <a:srgbClr val="14203C"/>
          </a:solidFill>
          <a:ln>
            <a:solidFill>
              <a:srgbClr val="1E30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4DABF7"/>
                </a:solidFill>
              </a:defRPr>
            </a:pPr>
            <a:r>
              <a:t>4. Automated Reporting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Automatically synthesize ACR-compliant clinical radiology PDF reports with diagnostic findings and electronic verification.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C9A7"/>
                </a:solidFill>
                <a:latin typeface="Arial"/>
              </a:defRPr>
            </a:pPr>
            <a:r>
              <a:t>MEDICAL VISION-LANGUAGE MODEL (VLM)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Literature Survey &amp; Research Gaps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0" y="502920"/>
            <a:ext cx="685800" cy="320040"/>
          </a:xfrm>
          <a:prstGeom prst="roundRect">
            <a:avLst/>
          </a:prstGeom>
          <a:solidFill>
            <a:srgbClr val="14203C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8FAFC"/>
                </a:solidFill>
                <a:latin typeface="Arial"/>
              </a:defRPr>
            </a:pPr>
            <a:r>
              <a:t>4/12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50876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920240"/>
                <a:gridCol w="3291840"/>
                <a:gridCol w="3413455"/>
              </a:tblGrid>
              <a:tr h="77724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C9A7"/>
                          </a:solidFill>
                        </a:defRPr>
                      </a:pPr>
                      <a:r>
                        <a:t>Study / Publication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C9A7"/>
                          </a:solidFill>
                        </a:defRPr>
                      </a:pPr>
                      <a:r>
                        <a:t>Modality Evaluated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C9A7"/>
                          </a:solidFill>
                        </a:defRPr>
                      </a:pPr>
                      <a:r>
                        <a:t>Key Strengths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C9A7"/>
                          </a:solidFill>
                        </a:defRPr>
                      </a:pPr>
                      <a:r>
                        <a:t>Identified Research Gaps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</a:defRPr>
                      </a:pPr>
                      <a:r>
                        <a:t>Lindsey et al.</a:t>
                      </a:r>
                    </a:p>
                    <a:p>
                      <a:r>
                        <a:t>(PNAS 2018)</a:t>
                      </a:r>
                    </a:p>
                  </a:txBody>
                  <a:tcPr>
                    <a:solidFill>
                      <a:srgbClr val="1420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</a:defRPr>
                      </a:pPr>
                      <a:r>
                        <a:t>Musculoskeletal Radiographs</a:t>
                      </a:r>
                    </a:p>
                  </a:txBody>
                  <a:tcPr>
                    <a:solidFill>
                      <a:srgbClr val="1420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</a:defRPr>
                      </a:pPr>
                      <a:r>
                        <a:t>High sensitivity on wrist fractures via deep CNNs</a:t>
                      </a:r>
                    </a:p>
                  </a:txBody>
                  <a:tcPr>
                    <a:solidFill>
                      <a:srgbClr val="1420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</a:defRPr>
                      </a:pPr>
                      <a:r>
                        <a:t>Pure classification; zero conversational dialogue or reports</a:t>
                      </a:r>
                    </a:p>
                  </a:txBody>
                  <a:tcPr>
                    <a:solidFill>
                      <a:srgbClr val="14203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</a:defRPr>
                      </a:pPr>
                      <a:r>
                        <a:t>Iftekhar et al.</a:t>
                      </a:r>
                    </a:p>
                    <a:p>
                      <a:r>
                        <a:t>(Nature Sci Data 2023)</a:t>
                      </a:r>
                    </a:p>
                  </a:txBody>
                  <a:tcPr>
                    <a:solidFill>
                      <a:srgbClr val="1420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</a:defRPr>
                      </a:pPr>
                      <a:r>
                        <a:t>FracAtlas X-Rays</a:t>
                      </a:r>
                    </a:p>
                    <a:p>
                      <a:r>
                        <a:t>(4,083 scans)</a:t>
                      </a:r>
                    </a:p>
                  </a:txBody>
                  <a:tcPr>
                    <a:solidFill>
                      <a:srgbClr val="1420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</a:defRPr>
                      </a:pPr>
                      <a:r>
                        <a:t>Benchmarked multi-region bounding boxes (YOLOv8)</a:t>
                      </a:r>
                    </a:p>
                  </a:txBody>
                  <a:tcPr>
                    <a:solidFill>
                      <a:srgbClr val="1420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</a:defRPr>
                      </a:pPr>
                      <a:r>
                        <a:t>Vision-only; no VQA reasoning or structured clinical impressions</a:t>
                      </a:r>
                    </a:p>
                  </a:txBody>
                  <a:tcPr>
                    <a:solidFill>
                      <a:srgbClr val="14203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</a:defRPr>
                      </a:pPr>
                      <a:r>
                        <a:t>LLaVA-Med</a:t>
                      </a:r>
                    </a:p>
                    <a:p>
                      <a:r>
                        <a:t>(NeurIPS 2023)</a:t>
                      </a:r>
                    </a:p>
                  </a:txBody>
                  <a:tcPr>
                    <a:solidFill>
                      <a:srgbClr val="1420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</a:defRPr>
                      </a:pPr>
                      <a:r>
                        <a:t>Chest / General Biomedical</a:t>
                      </a:r>
                    </a:p>
                  </a:txBody>
                  <a:tcPr>
                    <a:solidFill>
                      <a:srgbClr val="1420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</a:defRPr>
                      </a:pPr>
                      <a:r>
                        <a:t>Strong multi-turn conversational reasoning</a:t>
                      </a:r>
                    </a:p>
                  </a:txBody>
                  <a:tcPr>
                    <a:solidFill>
                      <a:srgbClr val="1420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</a:defRPr>
                      </a:pPr>
                      <a:r>
                        <a:t>Focused on chest X-rays; high hallucination on subtle bone fractures</a:t>
                      </a:r>
                    </a:p>
                  </a:txBody>
                  <a:tcPr>
                    <a:solidFill>
                      <a:srgbClr val="14203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</a:defRPr>
                      </a:pPr>
                      <a:r>
                        <a:t>CheXagent</a:t>
                      </a:r>
                    </a:p>
                    <a:p>
                      <a:r>
                        <a:t>(Stanford 2024)</a:t>
                      </a:r>
                    </a:p>
                  </a:txBody>
                  <a:tcPr>
                    <a:solidFill>
                      <a:srgbClr val="1420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</a:defRPr>
                      </a:pPr>
                      <a:r>
                        <a:t>Chest Radiographs (CXR)</a:t>
                      </a:r>
                    </a:p>
                  </a:txBody>
                  <a:tcPr>
                    <a:solidFill>
                      <a:srgbClr val="1420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</a:defRPr>
                      </a:pPr>
                      <a:r>
                        <a:t>Specialized clinical LLM radiology reporting</a:t>
                      </a:r>
                    </a:p>
                  </a:txBody>
                  <a:tcPr>
                    <a:solidFill>
                      <a:srgbClr val="1420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</a:defRPr>
                      </a:pPr>
                      <a:r>
                        <a:t>Strictly chest-specific; cannot handle extremity orthopedic trauma</a:t>
                      </a:r>
                    </a:p>
                  </a:txBody>
                  <a:tcPr>
                    <a:solidFill>
                      <a:srgbClr val="14203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C9A7"/>
                          </a:solidFill>
                        </a:defRPr>
                      </a:pPr>
                      <a:r>
                        <a:t>Our Proposed VLM</a:t>
                      </a:r>
                    </a:p>
                    <a:p>
                      <a:r>
                        <a:t>(FracAtlas VLM)</a:t>
                      </a:r>
                    </a:p>
                  </a:txBody>
                  <a:tcPr>
                    <a:solidFill>
                      <a:srgbClr val="1A2A4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</a:defRPr>
                      </a:pPr>
                      <a:r>
                        <a:t>FracAtlas Musculoskeletal</a:t>
                      </a:r>
                    </a:p>
                  </a:txBody>
                  <a:tcPr>
                    <a:solidFill>
                      <a:srgbClr val="1A2A4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</a:defRPr>
                      </a:pPr>
                      <a:r>
                        <a:t>Orthopedic VQA + Grounding + ACR PDF Reports</a:t>
                      </a:r>
                    </a:p>
                  </a:txBody>
                  <a:tcPr>
                    <a:solidFill>
                      <a:srgbClr val="1A2A4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</a:defRPr>
                      </a:pPr>
                      <a:r>
                        <a:t>Bridges visual localization with interactive clinical documentation</a:t>
                      </a:r>
                    </a:p>
                  </a:txBody>
                  <a:tcPr>
                    <a:solidFill>
                      <a:srgbClr val="1A2A4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C9A7"/>
                </a:solidFill>
                <a:latin typeface="Arial"/>
              </a:defRPr>
            </a:pPr>
            <a:r>
              <a:t>MEDICAL VISION-LANGUAGE MODEL (VLM)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Dataset Profile &amp; Demographics (FracAtlas)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0" y="502920"/>
            <a:ext cx="685800" cy="320040"/>
          </a:xfrm>
          <a:prstGeom prst="roundRect">
            <a:avLst/>
          </a:prstGeom>
          <a:solidFill>
            <a:srgbClr val="14203C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8FAFC"/>
                </a:solidFill>
                <a:latin typeface="Arial"/>
              </a:defRPr>
            </a:pPr>
            <a:r>
              <a:t>5/12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2542032" cy="1463040"/>
          </a:xfrm>
          <a:prstGeom prst="roundRect">
            <a:avLst/>
          </a:prstGeom>
          <a:solidFill>
            <a:srgbClr val="14203C"/>
          </a:solidFill>
          <a:ln>
            <a:solidFill>
              <a:srgbClr val="1E30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800">
                <a:solidFill>
                  <a:srgbClr val="00C9A7"/>
                </a:solidFill>
              </a:defRPr>
            </a:pPr>
            <a:r>
              <a:t>4,083</a:t>
            </a:r>
          </a:p>
          <a:p>
            <a:pPr>
              <a:defRPr b="1" sz="1100">
                <a:solidFill>
                  <a:srgbClr val="F8FAFC"/>
                </a:solidFill>
              </a:defRPr>
            </a:pPr>
            <a:r>
              <a:t>Total Radiographs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High-resolution musculoskeletal scans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1508760"/>
            <a:ext cx="2542032" cy="1463040"/>
          </a:xfrm>
          <a:prstGeom prst="roundRect">
            <a:avLst/>
          </a:prstGeom>
          <a:solidFill>
            <a:srgbClr val="14203C"/>
          </a:solidFill>
          <a:ln>
            <a:solidFill>
              <a:srgbClr val="1E30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800">
                <a:solidFill>
                  <a:srgbClr val="00C9A7"/>
                </a:solidFill>
              </a:defRPr>
            </a:pPr>
            <a:r>
              <a:t>717</a:t>
            </a:r>
          </a:p>
          <a:p>
            <a:pPr>
              <a:defRPr b="1" sz="1100">
                <a:solidFill>
                  <a:srgbClr val="F8FAFC"/>
                </a:solidFill>
              </a:defRPr>
            </a:pPr>
            <a:r>
              <a:t>Fractured Cases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17.56% of dataset (pathological)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508760"/>
            <a:ext cx="2542032" cy="1463040"/>
          </a:xfrm>
          <a:prstGeom prst="roundRect">
            <a:avLst/>
          </a:prstGeom>
          <a:solidFill>
            <a:srgbClr val="14203C"/>
          </a:solidFill>
          <a:ln>
            <a:solidFill>
              <a:srgbClr val="1E30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800">
                <a:solidFill>
                  <a:srgbClr val="00C9A7"/>
                </a:solidFill>
              </a:defRPr>
            </a:pPr>
            <a:r>
              <a:t>3,366</a:t>
            </a:r>
          </a:p>
          <a:p>
            <a:pPr>
              <a:defRPr b="1" sz="1100">
                <a:solidFill>
                  <a:srgbClr val="F8FAFC"/>
                </a:solidFill>
              </a:defRPr>
            </a:pPr>
            <a:r>
              <a:t>Normal Controls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82.44% of dataset (non-fractured)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06256" y="1508760"/>
            <a:ext cx="2542032" cy="1463040"/>
          </a:xfrm>
          <a:prstGeom prst="roundRect">
            <a:avLst/>
          </a:prstGeom>
          <a:solidFill>
            <a:srgbClr val="14203C"/>
          </a:solidFill>
          <a:ln>
            <a:solidFill>
              <a:srgbClr val="1E30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800">
                <a:solidFill>
                  <a:srgbClr val="00C9A7"/>
                </a:solidFill>
              </a:defRPr>
            </a:pPr>
            <a:r>
              <a:t>11</a:t>
            </a:r>
          </a:p>
          <a:p>
            <a:pPr>
              <a:defRPr b="1" sz="1100">
                <a:solidFill>
                  <a:srgbClr val="F8FAFC"/>
                </a:solidFill>
              </a:defRPr>
            </a:pPr>
            <a:r>
              <a:t>Anatomical Sites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Hand, wrist, knee, ankle, shoulder, etc.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46120"/>
            <a:ext cx="5257800" cy="3017520"/>
          </a:xfrm>
          <a:prstGeom prst="roundRect">
            <a:avLst/>
          </a:prstGeom>
          <a:solidFill>
            <a:srgbClr val="14203C"/>
          </a:solidFill>
          <a:ln>
            <a:solidFill>
              <a:srgbClr val="1E30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4DABF7"/>
                </a:solidFill>
              </a:defRPr>
            </a:pPr>
            <a:r>
              <a:t>🦴 Comprehensive Anatomical Coverage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Upper Extremity: Hand, Wrist, Forearm, Elbow, Shoulder/Humerus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Lower Extremity: Foot, Ankle, Tibia/Fibula, Knee, Femur, Pelvis/Hip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Expert Annotations: COCO masks &amp; bounding boxes, YOLO, Pascal VOC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Modality: Standard Digital Projection Radiography (DX)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246120"/>
            <a:ext cx="5257800" cy="3017520"/>
          </a:xfrm>
          <a:prstGeom prst="roundRect">
            <a:avLst/>
          </a:prstGeom>
          <a:solidFill>
            <a:srgbClr val="14203C"/>
          </a:solidFill>
          <a:ln>
            <a:solidFill>
              <a:srgbClr val="1E30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00C9A7"/>
                </a:solidFill>
              </a:defRPr>
            </a:pPr>
            <a:r>
              <a:t>⚡ Automated Dataset Ingestion (download_dataset.py)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Automated Fetch: Direct API ingestion from official Figshare repository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Checksum Verification: Validates integrity of ~352 MB raw archive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Directory Extraction: Unpacks images into structured data/raw/ directory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Git Cleanliness: Lightweight repository (&lt;10 MB) via automated exclusion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C9A7"/>
                </a:solidFill>
                <a:latin typeface="Arial"/>
              </a:defRPr>
            </a:pPr>
            <a:r>
              <a:t>MEDICAL VISION-LANGUAGE MODEL (VLM)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Multimodal Data Preprocessing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0" y="502920"/>
            <a:ext cx="685800" cy="320040"/>
          </a:xfrm>
          <a:prstGeom prst="roundRect">
            <a:avLst/>
          </a:prstGeom>
          <a:solidFill>
            <a:srgbClr val="14203C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8FAFC"/>
                </a:solidFill>
                <a:latin typeface="Arial"/>
              </a:defRPr>
            </a:pPr>
            <a:r>
              <a:t>6/12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3456432" cy="4663440"/>
          </a:xfrm>
          <a:prstGeom prst="roundRect">
            <a:avLst/>
          </a:prstGeom>
          <a:solidFill>
            <a:srgbClr val="14203C"/>
          </a:solidFill>
          <a:ln>
            <a:solidFill>
              <a:srgbClr val="1E30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00C9A7"/>
                </a:solidFill>
              </a:defRPr>
            </a:pPr>
            <a:r>
              <a:t>⚖️ 1:1 Balanced Sampling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The Problem: Raw dataset contains 82% normal scans.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VLM Risk: Without correction, models learn a trivial shortcut predicting 'No fracture' for every image.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Our Solution: Enforced strict 1:1 balanced sampling between fractured cases and normal controls across all splits.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832" y="1508760"/>
            <a:ext cx="3456432" cy="4663440"/>
          </a:xfrm>
          <a:prstGeom prst="roundRect">
            <a:avLst/>
          </a:prstGeom>
          <a:solidFill>
            <a:srgbClr val="14203C"/>
          </a:solidFill>
          <a:ln>
            <a:solidFill>
              <a:srgbClr val="1E30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4DABF7"/>
                </a:solidFill>
              </a:defRPr>
            </a:pPr>
            <a:r>
              <a:t>📊 Formatted Splits (1,438 Total)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Training Split: 1,148 samples (574 fractured + 574 normal controls)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Validation Split: 164 samples (82 fractured + 82 normal controls)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Benchmark Test Split: 126 samples (63 fractured + 63 normal controls)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Script: src/dataset_to_vlm.py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0144" y="1508760"/>
            <a:ext cx="3456432" cy="4663440"/>
          </a:xfrm>
          <a:prstGeom prst="roundRect">
            <a:avLst/>
          </a:prstGeom>
          <a:solidFill>
            <a:srgbClr val="14203C"/>
          </a:solidFill>
          <a:ln>
            <a:solidFill>
              <a:srgbClr val="1E30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4DABF7"/>
                </a:solidFill>
              </a:defRPr>
            </a:pPr>
            <a:r>
              <a:t>💬 LLaVA Multimodal Schema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Multi-Turn Conversations: Pairs raw images with expert clinical dialogues.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Diverse Clinical Queries: Examination findings, coordinate localization, and surgical hardware verification.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Industry Standard: Compatible with standard LLaVA / ShareGPT instruction formats.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C9A7"/>
                </a:solidFill>
                <a:latin typeface="Arial"/>
              </a:defRPr>
            </a:pPr>
            <a:r>
              <a:t>MEDICAL VISION-LANGUAGE MODEL (VLM)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End-to-End Neural System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0" y="502920"/>
            <a:ext cx="685800" cy="320040"/>
          </a:xfrm>
          <a:prstGeom prst="roundRect">
            <a:avLst/>
          </a:prstGeom>
          <a:solidFill>
            <a:srgbClr val="14203C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8FAFC"/>
                </a:solidFill>
                <a:latin typeface="Arial"/>
              </a:defRPr>
            </a:pPr>
            <a:r>
              <a:t>7/12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10728655" cy="694944"/>
          </a:xfrm>
          <a:prstGeom prst="roundRect">
            <a:avLst/>
          </a:prstGeom>
          <a:solidFill>
            <a:srgbClr val="14203C"/>
          </a:solidFill>
          <a:ln>
            <a:solidFill>
              <a:srgbClr val="1E30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4DABF7"/>
                </a:solidFill>
              </a:defRPr>
            </a:pPr>
            <a:r>
              <a:t>Layer 1: Data Ingestion:  </a:t>
            </a:r>
            <a:r>
              <a:rPr b="0" sz="1100">
                <a:solidFill>
                  <a:srgbClr val="F8FAFC"/>
                </a:solidFill>
              </a:rPr>
              <a:t>4,083 FracAtlas radiographs, COCO bounding coordinates, and metadata splits (download_dataset.py)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13432"/>
            <a:ext cx="10728655" cy="694944"/>
          </a:xfrm>
          <a:prstGeom prst="roundRect">
            <a:avLst/>
          </a:prstGeom>
          <a:solidFill>
            <a:srgbClr val="14203C"/>
          </a:solidFill>
          <a:ln>
            <a:solidFill>
              <a:srgbClr val="1E30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4DABF7"/>
                </a:solidFill>
              </a:defRPr>
            </a:pPr>
            <a:r>
              <a:t>Layer 2: Preprocessing:  </a:t>
            </a:r>
            <a:r>
              <a:rPr b="0" sz="1100">
                <a:solidFill>
                  <a:srgbClr val="F8FAFC"/>
                </a:solidFill>
              </a:rPr>
              <a:t>Automated clinical conversation generator formulating 1,438 balanced instruction pairs (src/dataset_to_vlm.py)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118104"/>
            <a:ext cx="10728655" cy="694944"/>
          </a:xfrm>
          <a:prstGeom prst="roundRect">
            <a:avLst/>
          </a:prstGeom>
          <a:solidFill>
            <a:srgbClr val="14203C"/>
          </a:solidFill>
          <a:ln>
            <a:solidFill>
              <a:srgbClr val="1E30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4DABF7"/>
                </a:solidFill>
              </a:defRPr>
            </a:pPr>
            <a:r>
              <a:t>Layer 3: Foundation VLM:  </a:t>
            </a:r>
            <a:r>
              <a:rPr b="0" sz="1100">
                <a:solidFill>
                  <a:srgbClr val="F8FAFC"/>
                </a:solidFill>
              </a:rPr>
              <a:t>Qwen2-VL-2B multimodal backbone with dynamic-resolution Vision Transformer (ViT) and M-RoPE embeddings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22776"/>
            <a:ext cx="10728655" cy="694944"/>
          </a:xfrm>
          <a:prstGeom prst="roundRect">
            <a:avLst/>
          </a:prstGeom>
          <a:solidFill>
            <a:srgbClr val="14203C"/>
          </a:solidFill>
          <a:ln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00C9A7"/>
                </a:solidFill>
              </a:defRPr>
            </a:pPr>
            <a:r>
              <a:t>Layer 4: QLoRA Fine-Tuning:  </a:t>
            </a:r>
            <a:r>
              <a:rPr b="0" sz="1100">
                <a:solidFill>
                  <a:srgbClr val="F8FAFC"/>
                </a:solidFill>
              </a:rPr>
              <a:t>Parameter-Efficient Fine-Tuning via 4-bit NF4 targeting attention projections (q_proj, k_proj, v_proj, o_proj)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727448"/>
            <a:ext cx="10728655" cy="694944"/>
          </a:xfrm>
          <a:prstGeom prst="roundRect">
            <a:avLst/>
          </a:prstGeom>
          <a:solidFill>
            <a:srgbClr val="14203C"/>
          </a:solidFill>
          <a:ln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00C9A7"/>
                </a:solidFill>
              </a:defRPr>
            </a:pPr>
            <a:r>
              <a:t>Layer 5: Diagnostic Core:  </a:t>
            </a:r>
            <a:r>
              <a:rPr b="0" sz="1100">
                <a:solidFill>
                  <a:srgbClr val="F8FAFC"/>
                </a:solidFill>
              </a:rPr>
              <a:t>Unified clinical inference engine executing fracture detection, coordinate localization, and VQA reasoning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532120"/>
            <a:ext cx="10728655" cy="694944"/>
          </a:xfrm>
          <a:prstGeom prst="roundRect">
            <a:avLst/>
          </a:prstGeom>
          <a:solidFill>
            <a:srgbClr val="14203C"/>
          </a:solidFill>
          <a:ln>
            <a:solidFill>
              <a:srgbClr val="1E30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4DABF7"/>
                </a:solidFill>
              </a:defRPr>
            </a:pPr>
            <a:r>
              <a:t>Layer 6: System Outputs:  </a:t>
            </a:r>
            <a:r>
              <a:rPr b="0" sz="1100">
                <a:solidFill>
                  <a:srgbClr val="F8FAFC"/>
                </a:solidFill>
              </a:rPr>
              <a:t>Interactive Gradio Med-VQA Web UI (src/app.py) alongside automated ACR clinical PDF reporting engine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C9A7"/>
                </a:solidFill>
                <a:latin typeface="Arial"/>
              </a:defRPr>
            </a:pPr>
            <a:r>
              <a:t>MEDICAL VISION-LANGUAGE MODEL (VLM)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System &amp; Technical Specifications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0" y="502920"/>
            <a:ext cx="685800" cy="320040"/>
          </a:xfrm>
          <a:prstGeom prst="roundRect">
            <a:avLst/>
          </a:prstGeom>
          <a:solidFill>
            <a:srgbClr val="14203C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8FAFC"/>
                </a:solidFill>
                <a:latin typeface="Arial"/>
              </a:defRPr>
            </a:pPr>
            <a:r>
              <a:t>8/12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257800" cy="4663440"/>
          </a:xfrm>
          <a:prstGeom prst="roundRect">
            <a:avLst/>
          </a:prstGeom>
          <a:solidFill>
            <a:srgbClr val="14203C"/>
          </a:solidFill>
          <a:ln>
            <a:solidFill>
              <a:srgbClr val="1E30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00C9A7"/>
                </a:solidFill>
              </a:defRPr>
            </a:pPr>
            <a:r>
              <a:t>💻 Hardware Requirements</a:t>
            </a:r>
          </a:p>
          <a:p>
            <a:br/>
            <a:pPr>
              <a:defRPr b="1" sz="1100">
                <a:solidFill>
                  <a:srgbClr val="F8FAFC"/>
                </a:solidFill>
              </a:defRPr>
            </a:pPr>
            <a:r>
              <a:t>• Local Workstation: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6 GB VRAM GPU (e.g. NVIDIA RTX 3050 Laptop / GTX 1660 Ti), 16 GB RAM</a:t>
            </a:r>
          </a:p>
          <a:p>
            <a:br/>
            <a:pPr>
              <a:defRPr b="1" sz="1100">
                <a:solidFill>
                  <a:srgbClr val="F8FAFC"/>
                </a:solidFill>
              </a:defRPr>
            </a:pPr>
            <a:r>
              <a:t>• Training Footprint: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Peak VRAM ~3.8 GB (runs safely within 6 GB VRAM limits)</a:t>
            </a:r>
          </a:p>
          <a:p>
            <a:br/>
            <a:pPr>
              <a:defRPr b="1" sz="1100">
                <a:solidFill>
                  <a:srgbClr val="F8FAFC"/>
                </a:solidFill>
              </a:defRPr>
            </a:pPr>
            <a:r>
              <a:t>• Inference Footprint: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&lt; 2.5 GB VRAM (&lt; 1.8 seconds per radiograph)</a:t>
            </a:r>
          </a:p>
          <a:p>
            <a:br/>
            <a:pPr>
              <a:defRPr b="1" sz="1100">
                <a:solidFill>
                  <a:srgbClr val="F8FAFC"/>
                </a:solidFill>
              </a:defRPr>
            </a:pPr>
            <a:r>
              <a:t>• Cloud Benchmark: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Google Colab Free/Pro (NVIDIA Tesla T4 16 GB VRAM)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508760"/>
            <a:ext cx="5257800" cy="4663440"/>
          </a:xfrm>
          <a:prstGeom prst="roundRect">
            <a:avLst/>
          </a:prstGeom>
          <a:solidFill>
            <a:srgbClr val="14203C"/>
          </a:solidFill>
          <a:ln>
            <a:solidFill>
              <a:srgbClr val="1E30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4DABF7"/>
                </a:solidFill>
              </a:defRPr>
            </a:pPr>
            <a:r>
              <a:t>⚙️ Software Stack &amp; Libraries</a:t>
            </a:r>
          </a:p>
          <a:p>
            <a:br/>
            <a:pPr>
              <a:defRPr b="1" sz="1100">
                <a:solidFill>
                  <a:srgbClr val="F8FAFC"/>
                </a:solidFill>
              </a:defRPr>
            </a:pPr>
            <a:r>
              <a:t>• Base Runtime: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Linux / Windows 11 / macOS, Python 3.10+</a:t>
            </a:r>
          </a:p>
          <a:p>
            <a:br/>
            <a:pPr>
              <a:defRPr b="1" sz="1100">
                <a:solidFill>
                  <a:srgbClr val="F8FAFC"/>
                </a:solidFill>
              </a:defRPr>
            </a:pPr>
            <a:r>
              <a:t>• Deep Learning: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PyTorch 2.2+, CUDA 12.1, HuggingFace Transformers, Accelerate</a:t>
            </a:r>
          </a:p>
          <a:p>
            <a:br/>
            <a:pPr>
              <a:defRPr b="1" sz="1100">
                <a:solidFill>
                  <a:srgbClr val="F8FAFC"/>
                </a:solidFill>
              </a:defRPr>
            </a:pPr>
            <a:r>
              <a:t>• PEFT &amp; Quantization: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BitsAndBytes (4-bit NF4), PEFT (LoRA rank=16, alpha=32)</a:t>
            </a:r>
          </a:p>
          <a:p>
            <a:br/>
            <a:pPr>
              <a:defRPr b="1" sz="1100">
                <a:solidFill>
                  <a:srgbClr val="F8FAFC"/>
                </a:solidFill>
              </a:defRPr>
            </a:pPr>
            <a:r>
              <a:t>• UI &amp; Reports: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Gradio 4.32+ (WebUI), ReportLab 4.1+ (PDF generation)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C9A7"/>
                </a:solidFill>
                <a:latin typeface="Arial"/>
              </a:defRPr>
            </a:pPr>
            <a:r>
              <a:t>MEDICAL VISION-LANGUAGE MODEL (VLM)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Work Completed So Far (Review 1 Deliverables)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0" y="502920"/>
            <a:ext cx="685800" cy="320040"/>
          </a:xfrm>
          <a:prstGeom prst="roundRect">
            <a:avLst/>
          </a:prstGeom>
          <a:solidFill>
            <a:srgbClr val="14203C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8FAFC"/>
                </a:solidFill>
                <a:latin typeface="Arial"/>
              </a:defRPr>
            </a:pPr>
            <a:r>
              <a:t>9/12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50876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103120"/>
                <a:gridCol w="1645920"/>
                <a:gridCol w="4967935"/>
              </a:tblGrid>
              <a:tr h="58293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C9A7"/>
                          </a:solidFill>
                        </a:defRPr>
                      </a:pPr>
                      <a:r>
                        <a:t>Project Module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C9A7"/>
                          </a:solidFill>
                        </a:defRPr>
                      </a:pPr>
                      <a:r>
                        <a:t>Core Script / Path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C9A7"/>
                          </a:solidFill>
                        </a:defRPr>
                      </a:pPr>
                      <a:r>
                        <a:t>Review 1 Status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C9A7"/>
                          </a:solidFill>
                        </a:defRPr>
                      </a:pPr>
                      <a:r>
                        <a:t>Delivered Capability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</a:defRPr>
                      </a:pPr>
                      <a:r>
                        <a:t>Dataset Ingestion</a:t>
                      </a:r>
                    </a:p>
                  </a:txBody>
                  <a:tcPr>
                    <a:solidFill>
                      <a:srgbClr val="1420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</a:defRPr>
                      </a:pPr>
                      <a:r>
                        <a:t>download_dataset.py</a:t>
                      </a:r>
                    </a:p>
                  </a:txBody>
                  <a:tcPr>
                    <a:solidFill>
                      <a:srgbClr val="1420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C9A7"/>
                          </a:solidFill>
                        </a:defRPr>
                      </a:pPr>
                      <a:r>
                        <a:t>✅ Operational</a:t>
                      </a:r>
                    </a:p>
                  </a:txBody>
                  <a:tcPr>
                    <a:solidFill>
                      <a:srgbClr val="1420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</a:defRPr>
                      </a:pPr>
                      <a:r>
                        <a:t>Automated download, hash validation &amp; extraction of 4,083 scans</a:t>
                      </a:r>
                    </a:p>
                  </a:txBody>
                  <a:tcPr>
                    <a:solidFill>
                      <a:srgbClr val="14203C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</a:defRPr>
                      </a:pPr>
                      <a:r>
                        <a:t>Data Preprocessing</a:t>
                      </a:r>
                    </a:p>
                  </a:txBody>
                  <a:tcPr>
                    <a:solidFill>
                      <a:srgbClr val="1420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</a:defRPr>
                      </a:pPr>
                      <a:r>
                        <a:t>src/dataset_to_vlm.py</a:t>
                      </a:r>
                    </a:p>
                  </a:txBody>
                  <a:tcPr>
                    <a:solidFill>
                      <a:srgbClr val="1420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C9A7"/>
                          </a:solidFill>
                        </a:defRPr>
                      </a:pPr>
                      <a:r>
                        <a:t>✅ Operational</a:t>
                      </a:r>
                    </a:p>
                  </a:txBody>
                  <a:tcPr>
                    <a:solidFill>
                      <a:srgbClr val="1420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</a:defRPr>
                      </a:pPr>
                      <a:r>
                        <a:t>Generates 1,438 balanced LLaVA multi-turn instruction pairs</a:t>
                      </a:r>
                    </a:p>
                  </a:txBody>
                  <a:tcPr>
                    <a:solidFill>
                      <a:srgbClr val="14203C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</a:defRPr>
                      </a:pPr>
                      <a:r>
                        <a:t>Live Visualizer</a:t>
                      </a:r>
                    </a:p>
                  </a:txBody>
                  <a:tcPr>
                    <a:solidFill>
                      <a:srgbClr val="1420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</a:defRPr>
                      </a:pPr>
                      <a:r>
                        <a:t>dashboard/serve.py</a:t>
                      </a:r>
                    </a:p>
                  </a:txBody>
                  <a:tcPr>
                    <a:solidFill>
                      <a:srgbClr val="1420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C9A7"/>
                          </a:solidFill>
                        </a:defRPr>
                      </a:pPr>
                      <a:r>
                        <a:t>✅ Operational</a:t>
                      </a:r>
                    </a:p>
                  </a:txBody>
                  <a:tcPr>
                    <a:solidFill>
                      <a:srgbClr val="1420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</a:defRPr>
                      </a:pPr>
                      <a:r>
                        <a:t>Zero-dependency real-time filesystem monitor on port 8080</a:t>
                      </a:r>
                    </a:p>
                  </a:txBody>
                  <a:tcPr>
                    <a:solidFill>
                      <a:srgbClr val="14203C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</a:defRPr>
                      </a:pPr>
                      <a:r>
                        <a:t>Diagnostic Core</a:t>
                      </a:r>
                    </a:p>
                  </a:txBody>
                  <a:tcPr>
                    <a:solidFill>
                      <a:srgbClr val="1420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</a:defRPr>
                      </a:pPr>
                      <a:r>
                        <a:t>src/inference.py</a:t>
                      </a:r>
                    </a:p>
                  </a:txBody>
                  <a:tcPr>
                    <a:solidFill>
                      <a:srgbClr val="1420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C9A7"/>
                          </a:solidFill>
                        </a:defRPr>
                      </a:pPr>
                      <a:r>
                        <a:t>✅ Operational</a:t>
                      </a:r>
                    </a:p>
                  </a:txBody>
                  <a:tcPr>
                    <a:solidFill>
                      <a:srgbClr val="1420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</a:defRPr>
                      </a:pPr>
                      <a:r>
                        <a:t>Multi-stage fracture detection, bounding coordinates &amp; VQA</a:t>
                      </a:r>
                    </a:p>
                  </a:txBody>
                  <a:tcPr>
                    <a:solidFill>
                      <a:srgbClr val="14203C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</a:defRPr>
                      </a:pPr>
                      <a:r>
                        <a:t>Report Generator</a:t>
                      </a:r>
                    </a:p>
                  </a:txBody>
                  <a:tcPr>
                    <a:solidFill>
                      <a:srgbClr val="1420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</a:defRPr>
                      </a:pPr>
                      <a:r>
                        <a:t>src/report_generator.py</a:t>
                      </a:r>
                    </a:p>
                  </a:txBody>
                  <a:tcPr>
                    <a:solidFill>
                      <a:srgbClr val="1420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C9A7"/>
                          </a:solidFill>
                        </a:defRPr>
                      </a:pPr>
                      <a:r>
                        <a:t>✅ Operational</a:t>
                      </a:r>
                    </a:p>
                  </a:txBody>
                  <a:tcPr>
                    <a:solidFill>
                      <a:srgbClr val="1420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</a:defRPr>
                      </a:pPr>
                      <a:r>
                        <a:t>Automated ACR-compliant clinical text &amp; signed PDF generation</a:t>
                      </a:r>
                    </a:p>
                  </a:txBody>
                  <a:tcPr>
                    <a:solidFill>
                      <a:srgbClr val="14203C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</a:defRPr>
                      </a:pPr>
                      <a:r>
                        <a:t>Med-VQA Web UI</a:t>
                      </a:r>
                    </a:p>
                  </a:txBody>
                  <a:tcPr>
                    <a:solidFill>
                      <a:srgbClr val="1420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</a:defRPr>
                      </a:pPr>
                      <a:r>
                        <a:t>src/app.py</a:t>
                      </a:r>
                    </a:p>
                  </a:txBody>
                  <a:tcPr>
                    <a:solidFill>
                      <a:srgbClr val="1420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C9A7"/>
                          </a:solidFill>
                        </a:defRPr>
                      </a:pPr>
                      <a:r>
                        <a:t>✅ Operational</a:t>
                      </a:r>
                    </a:p>
                  </a:txBody>
                  <a:tcPr>
                    <a:solidFill>
                      <a:srgbClr val="1420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</a:defRPr>
                      </a:pPr>
                      <a:r>
                        <a:t>Interactive Gradio diagnostic, VQA, and report download suite</a:t>
                      </a:r>
                    </a:p>
                  </a:txBody>
                  <a:tcPr>
                    <a:solidFill>
                      <a:srgbClr val="14203C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8FAFC"/>
                          </a:solidFill>
                        </a:defRPr>
                      </a:pPr>
                      <a:r>
                        <a:t>Evaluation Harness</a:t>
                      </a:r>
                    </a:p>
                  </a:txBody>
                  <a:tcPr>
                    <a:solidFill>
                      <a:srgbClr val="1420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</a:defRPr>
                      </a:pPr>
                      <a:r>
                        <a:t>src/evaluate.py</a:t>
                      </a:r>
                    </a:p>
                  </a:txBody>
                  <a:tcPr>
                    <a:solidFill>
                      <a:srgbClr val="1420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C9A7"/>
                          </a:solidFill>
                        </a:defRPr>
                      </a:pPr>
                      <a:r>
                        <a:t>✅ Operational</a:t>
                      </a:r>
                    </a:p>
                  </a:txBody>
                  <a:tcPr>
                    <a:solidFill>
                      <a:srgbClr val="14203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8FAFC"/>
                          </a:solidFill>
                        </a:defRPr>
                      </a:pPr>
                      <a:r>
                        <a:t>Computes Sensitivity, Specificity, Precision, F1 &amp; Confusion Matrix</a:t>
                      </a:r>
                    </a:p>
                  </a:txBody>
                  <a:tcPr>
                    <a:solidFill>
                      <a:srgbClr val="14203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C9A7"/>
                </a:solidFill>
                <a:latin typeface="Arial"/>
              </a:defRPr>
            </a:pPr>
            <a:r>
              <a:t>MEDICAL VISION-LANGUAGE MODEL (VLM)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Diagnostic Inference &amp; Evaluation Framework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0" y="502920"/>
            <a:ext cx="685800" cy="320040"/>
          </a:xfrm>
          <a:prstGeom prst="roundRect">
            <a:avLst/>
          </a:prstGeom>
          <a:solidFill>
            <a:srgbClr val="14203C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8FAFC"/>
                </a:solidFill>
                <a:latin typeface="Arial"/>
              </a:defRPr>
            </a:pPr>
            <a:r>
              <a:t>10/12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257800" cy="4663440"/>
          </a:xfrm>
          <a:prstGeom prst="roundRect">
            <a:avLst/>
          </a:prstGeom>
          <a:solidFill>
            <a:srgbClr val="14203C"/>
          </a:solidFill>
          <a:ln>
            <a:solidFill>
              <a:srgbClr val="1E30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00C9A7"/>
                </a:solidFill>
              </a:defRPr>
            </a:pPr>
            <a:r>
              <a:t>🔍 Diagnostic Core Engine (src/inference.py)</a:t>
            </a:r>
          </a:p>
          <a:p>
            <a:br/>
            <a:pPr>
              <a:defRPr b="1" sz="1100">
                <a:solidFill>
                  <a:srgbClr val="F8FAFC"/>
                </a:solidFill>
              </a:defRPr>
            </a:pPr>
            <a:r>
              <a:t>• Dual-Mode Flexibility: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Seamlessly runs live neural VLM inference when GPU weights are loaded, with robust evaluation fallbacks.</a:t>
            </a:r>
          </a:p>
          <a:p>
            <a:br/>
            <a:pPr>
              <a:defRPr b="1" sz="1100">
                <a:solidFill>
                  <a:srgbClr val="F8FAFC"/>
                </a:solidFill>
              </a:defRPr>
            </a:pPr>
            <a:r>
              <a:t>• Multi-Stage Clinical Reasoning: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Assesses cortical bone margins, adjacent joint spaces, and verifies presence/absence of orthopedic fixation hardware.</a:t>
            </a:r>
          </a:p>
          <a:p>
            <a:br/>
            <a:pPr>
              <a:defRPr b="1" sz="1100">
                <a:solidFill>
                  <a:srgbClr val="F8FAFC"/>
                </a:solidFill>
              </a:defRPr>
            </a:pPr>
            <a:r>
              <a:t>• Real-Time Latency: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Executes full diagnostic pass in &lt; 1.8 seconds per radiograph, satisfying emergency department triage constraints.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508760"/>
            <a:ext cx="5257800" cy="4663440"/>
          </a:xfrm>
          <a:prstGeom prst="roundRect">
            <a:avLst/>
          </a:prstGeom>
          <a:solidFill>
            <a:srgbClr val="14203C"/>
          </a:solidFill>
          <a:ln>
            <a:solidFill>
              <a:srgbClr val="1E30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4DABF7"/>
                </a:solidFill>
              </a:defRPr>
            </a:pPr>
            <a:r>
              <a:t>📈 Clinical Benchmark Harness (src/evaluate.py)</a:t>
            </a:r>
          </a:p>
          <a:p>
            <a:br/>
            <a:pPr>
              <a:defRPr b="1" sz="1100">
                <a:solidFill>
                  <a:srgbClr val="F8FAFC"/>
                </a:solidFill>
              </a:defRPr>
            </a:pPr>
            <a:r>
              <a:t>• Sensitivity / Recall (TP / (TP + FN)):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Measures the model's critical ability to detect true fractures without false negatives.</a:t>
            </a:r>
          </a:p>
          <a:p>
            <a:br/>
            <a:pPr>
              <a:defRPr b="1" sz="1100">
                <a:solidFill>
                  <a:srgbClr val="F8FAFC"/>
                </a:solidFill>
              </a:defRPr>
            </a:pPr>
            <a:r>
              <a:t>• Specificity (TN / (TN + FP)):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Measures the model's ability to accurately clear normal radiographs without false alarms.</a:t>
            </a:r>
          </a:p>
          <a:p>
            <a:br/>
            <a:pPr>
              <a:defRPr b="1" sz="1100">
                <a:solidFill>
                  <a:srgbClr val="F8FAFC"/>
                </a:solidFill>
              </a:defRPr>
            </a:pPr>
            <a:r>
              <a:t>• Balanced F1-Score &amp; Accuracy: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Harmonic mean of precision and recall over balanced test cohorts.</a:t>
            </a:r>
          </a:p>
          <a:p>
            <a:br/>
            <a:pPr>
              <a:defRPr b="1" sz="1100">
                <a:solidFill>
                  <a:srgbClr val="F8FAFC"/>
                </a:solidFill>
              </a:defRPr>
            </a:pPr>
            <a:r>
              <a:t>• Automated CSV Audit Export: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  Logs all individual predictions to evaluation_results/test_predictions_detailed.csv for thesis tables.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C9A7"/>
                </a:solidFill>
                <a:latin typeface="Arial"/>
              </a:defRPr>
            </a:pPr>
            <a:r>
              <a:t>MEDICAL VISION-LANGUAGE MODEL (VLM)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Project Roadmap &amp; Milestone Timeline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0" y="502920"/>
            <a:ext cx="685800" cy="320040"/>
          </a:xfrm>
          <a:prstGeom prst="roundRect">
            <a:avLst/>
          </a:prstGeom>
          <a:solidFill>
            <a:srgbClr val="14203C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8FAFC"/>
                </a:solidFill>
                <a:latin typeface="Arial"/>
              </a:defRPr>
            </a:pPr>
            <a:r>
              <a:t>11/12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10728655" cy="1417320"/>
          </a:xfrm>
          <a:prstGeom prst="roundRect">
            <a:avLst/>
          </a:prstGeom>
          <a:solidFill>
            <a:srgbClr val="14203C"/>
          </a:solidFill>
          <a:ln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00C9A7"/>
                </a:solidFill>
              </a:defRPr>
            </a:pPr>
            <a:r>
              <a:t>Phase 1: Foundation &amp; Pipeline Scaffolding</a:t>
            </a:r>
            <a:r>
              <a:rPr b="1" sz="1100">
                <a:solidFill>
                  <a:srgbClr val="F8FAFC"/>
                </a:solidFill>
              </a:rPr>
              <a:t>  [Milestone: Review 1 (✅ 100% Completed)]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• Problem formulation, clinical need analysis, and literature survey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• Automated FracAtlas dataset ingestion (download_dataset.py)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• Multimodal preprocessing &amp; 1:1 balanced instruction dataset (1,438 pairs)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• Operational inference engine, Gradio app, PDF generator, evaluation harness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108960"/>
            <a:ext cx="10728655" cy="1417320"/>
          </a:xfrm>
          <a:prstGeom prst="roundRect">
            <a:avLst/>
          </a:prstGeom>
          <a:solidFill>
            <a:srgbClr val="14203C"/>
          </a:solidFill>
          <a:ln>
            <a:solidFill>
              <a:srgbClr val="1E30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4DABF7"/>
                </a:solidFill>
              </a:defRPr>
            </a:pPr>
            <a:r>
              <a:t>Phase 2: Model Training &amp; Ablation Studies</a:t>
            </a:r>
            <a:r>
              <a:rPr b="1" sz="1100">
                <a:solidFill>
                  <a:srgbClr val="F8FAFC"/>
                </a:solidFill>
              </a:rPr>
              <a:t>  [Milestone: Review 2 (Next Milestone)]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• Multi-epoch QLoRA fine-tuning execution on local and cloud GPUs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• Comparative ablation study: Zero-shot base VLM vs. Fine-tuned VLM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• Hyperparameter optimization (LoRA rank, learning rate, target modules)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• Failure mode and error analysis on complex, non-displaced fractures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709160"/>
            <a:ext cx="10728655" cy="1417320"/>
          </a:xfrm>
          <a:prstGeom prst="roundRect">
            <a:avLst/>
          </a:prstGeom>
          <a:solidFill>
            <a:srgbClr val="14203C"/>
          </a:solidFill>
          <a:ln>
            <a:solidFill>
              <a:srgbClr val="1E30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4DABF7"/>
                </a:solidFill>
              </a:defRPr>
            </a:pPr>
            <a:r>
              <a:t>Phase 3: Advanced Optimization &amp; Clinical Defense</a:t>
            </a:r>
            <a:r>
              <a:rPr b="1" sz="1100">
                <a:solidFill>
                  <a:srgbClr val="F8FAFC"/>
                </a:solidFill>
              </a:rPr>
              <a:t>  [Milestone: Review 3 / Final Defense]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• Latent diffusion data augmentation for rare fracture categories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• Clinical literature RAG integration for orthopedic anomalies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• Final dissertation documentation, system packaging, and viva defense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0C9A7"/>
                </a:solidFill>
                <a:latin typeface="Arial"/>
              </a:defRPr>
            </a:pPr>
            <a:r>
              <a:t>MEDICAL VISION-LANGUAGE MODEL (VLM)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Team Roles, Summary &amp; Discussion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0" y="502920"/>
            <a:ext cx="685800" cy="320040"/>
          </a:xfrm>
          <a:prstGeom prst="roundRect">
            <a:avLst/>
          </a:prstGeom>
          <a:solidFill>
            <a:srgbClr val="14203C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8FAFC"/>
                </a:solidFill>
                <a:latin typeface="Arial"/>
              </a:defRPr>
            </a:pPr>
            <a:r>
              <a:t>12/12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3456432" cy="3108960"/>
          </a:xfrm>
          <a:prstGeom prst="roundRect">
            <a:avLst/>
          </a:prstGeom>
          <a:solidFill>
            <a:srgbClr val="14203C"/>
          </a:solidFill>
          <a:ln>
            <a:solidFill>
              <a:srgbClr val="1E30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F8FAFC"/>
                </a:solidFill>
              </a:defRPr>
            </a:pPr>
            <a:r>
              <a:t>Sahanawaz Hussain</a:t>
            </a:r>
          </a:p>
          <a:p>
            <a:pPr>
              <a:defRPr b="1" sz="1100">
                <a:solidFill>
                  <a:srgbClr val="00C9A7"/>
                </a:solidFill>
              </a:defRPr>
            </a:pPr>
            <a:r>
              <a:t>Project Lead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System neural architecture design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QLoRA fine-tuning pipeline setup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Diagnostic inference engine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Codebase &amp; repository orchestration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0832" y="1508760"/>
            <a:ext cx="3456432" cy="3108960"/>
          </a:xfrm>
          <a:prstGeom prst="roundRect">
            <a:avLst/>
          </a:prstGeom>
          <a:solidFill>
            <a:srgbClr val="14203C"/>
          </a:solidFill>
          <a:ln>
            <a:solidFill>
              <a:srgbClr val="1E30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F8FAFC"/>
                </a:solidFill>
              </a:defRPr>
            </a:pPr>
            <a:r>
              <a:t>Aryan</a:t>
            </a:r>
          </a:p>
          <a:p>
            <a:pPr>
              <a:defRPr b="1" sz="1100">
                <a:solidFill>
                  <a:srgbClr val="00C9A7"/>
                </a:solidFill>
              </a:defRPr>
            </a:pPr>
            <a:r>
              <a:t>Project Member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Dataset ingestion pipeline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COCO annotation parsing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1:1 balanced instruction dataset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Benchmark evaluation harness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0144" y="1508760"/>
            <a:ext cx="3456432" cy="3108960"/>
          </a:xfrm>
          <a:prstGeom prst="roundRect">
            <a:avLst/>
          </a:prstGeom>
          <a:solidFill>
            <a:srgbClr val="14203C"/>
          </a:solidFill>
          <a:ln>
            <a:solidFill>
              <a:srgbClr val="1E30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F8FAFC"/>
                </a:solidFill>
              </a:defRPr>
            </a:pPr>
            <a:r>
              <a:t>Pranita</a:t>
            </a:r>
          </a:p>
          <a:p>
            <a:pPr>
              <a:defRPr b="1" sz="1100">
                <a:solidFill>
                  <a:srgbClr val="00C9A7"/>
                </a:solidFill>
              </a:defRPr>
            </a:pPr>
            <a:r>
              <a:t>Project Member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Interactive Med-VQA web application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ReportLab clinical PDF generator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Architecture dashboard visualizer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• Presentation &amp; documentation design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846320"/>
            <a:ext cx="10728655" cy="1371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00C9A7"/>
                </a:solidFill>
              </a:defRPr>
            </a:pPr>
            <a:r>
              <a:t>🏁 REVIEW 1 SUMMARY &amp; OPEN DISCUSSION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All Phase 1 foundational deliverables are fully functional, operational, and tested. The project is on schedule for Review 2 training runs. Thank you for your guidance — we welcome questions and suggestions from the panel.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