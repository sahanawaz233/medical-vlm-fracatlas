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0192D"/>
          </a:solidFill>
          <a:ln w="1905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515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FC8"/>
                </a:solidFill>
                <a:latin typeface="Arial"/>
              </a:defRPr>
            </a:pPr>
            <a:r>
              <a:t>ASSAM ENGINEERING COLLEGE  •  DEPT. OF ELECTRONICS &amp; TELECOMMUNICATION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463040"/>
            <a:ext cx="9784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FracAtlas Medical Vision-Language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784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8BDF8"/>
                </a:solidFill>
                <a:latin typeface="Arial"/>
              </a:defRPr>
            </a:pPr>
            <a:r>
              <a:t>Multimodal Deep Learning for Orthopedic Fracture Detection, Conversational Med-VQA, and Automated Clinical Reporting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3291840"/>
            <a:ext cx="3840480" cy="411480"/>
          </a:xfrm>
          <a:prstGeom prst="roundRect">
            <a:avLst/>
          </a:prstGeom>
          <a:solidFill>
            <a:srgbClr val="0C233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📌 Major Project (B.Tech 7th Sem) — Review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931920"/>
            <a:ext cx="4754880" cy="1828800"/>
          </a:xfrm>
          <a:prstGeom prst="roundRect">
            <a:avLst/>
          </a:prstGeom>
          <a:solidFill>
            <a:srgbClr val="0A101E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0FFC8"/>
                </a:solidFill>
              </a:defRPr>
            </a:pPr>
            <a:r>
              <a:t>PROJECT TEAM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Sahanawaz Hussain (Lead — Architecture, Training &amp; Inference Core)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Aryan (Member — Data Ingestion &amp; Benchmark Harness)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Pranita (Member — Med-VQA WebUI &amp; Clinical PDF Engine)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4754880" cy="1828800"/>
          </a:xfrm>
          <a:prstGeom prst="roundRect">
            <a:avLst/>
          </a:prstGeom>
          <a:solidFill>
            <a:srgbClr val="0A101E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0FFC8"/>
                </a:solidFill>
              </a:defRPr>
            </a:pPr>
            <a:r>
              <a:t>ARCHITECTURE PROFILE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Dual-Engine Baseline: Local Qwen2-VL-2B (6GB VRAM) + Cloud 7B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Quantization &amp; PEFT: BitsAndBytes 4-bit NF4 + LoRA Adapters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Clinical Deliverables: Real-time Detection + Med-VQA + Signed ACR PDF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Project Repository: github.com/Sahanawaz233/medical-vlm-fracatlas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0F1E37"/>
          </a:solidFill>
          <a:ln w="1270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FC8"/>
                </a:solidFill>
                <a:latin typeface="Arial"/>
              </a:defRPr>
            </a:pPr>
            <a:r>
              <a:t>  SECTION 1 : PROBLEM CONTEXT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Clinical Need Analysis &amp; Problem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44200" y="365760"/>
            <a:ext cx="713232" cy="292608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4028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59E0B"/>
                </a:solidFill>
              </a:defRPr>
            </a:pPr>
            <a:r>
              <a:t>🚨 Emergency Triage Bottleneck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Severe radiologist shortages during off-peak hours and night trauma shifts.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Initial radiographs are assessed by junior emergency doctors under intense time pressure.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High patient turnaround volumes delay critical orthopedic surgical decisions.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5257800" cy="224028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59E0B"/>
                </a:solidFill>
              </a:defRPr>
            </a:pPr>
            <a:r>
              <a:t>⚠️ Up to 80% Missed Fractures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Clinical audits prove missed fractures account for ~80% of emergency diagnostic errors.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Subtle hairline, non-displaced, and pediatric fractures are routinely overlooked.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Results in permanent disability, bone malunion, and high medical litigation costs.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86200"/>
            <a:ext cx="5257800" cy="224028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38BDF8"/>
                </a:solidFill>
              </a:defRPr>
            </a:pPr>
            <a:r>
              <a:t>📦 The 'Black-Box' CAD Limitation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Traditional CNN detectors (ResNet, YOLO) output only raw bounding boxes or binary flags.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Zero natural language explanation: clinicians cannot ask follow-up questions.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No automated clinical documentation or integration into hospital EHR/PACS systems.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257800" cy="224028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0FFC8"/>
                </a:solidFill>
              </a:defRPr>
            </a:pPr>
            <a:r>
              <a:t>💡 The Multimodal VLM Solution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Bridges computer vision and clinical language into a unified diagnostic pipeline.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Visual localization paired with interactive Med-VQA reasoning.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 Direct generation of ACR-standard, verified clinical radiology PDF reports.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0F1E37"/>
          </a:solidFill>
          <a:ln w="1270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FC8"/>
                </a:solidFill>
                <a:latin typeface="Arial"/>
              </a:defRPr>
            </a:pPr>
            <a:r>
              <a:t>  SECTION 2 : RELATED WORK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Literature Survey &amp; Research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44200" y="365760"/>
            <a:ext cx="713232" cy="292608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3/12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920240"/>
                <a:gridCol w="3291840"/>
                <a:gridCol w="3413455"/>
              </a:tblGrid>
              <a:tr h="95097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FC8"/>
                          </a:solidFill>
                        </a:defRPr>
                      </a:pPr>
                      <a:r>
                        <a:t>Study / Publication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FC8"/>
                          </a:solidFill>
                        </a:defRPr>
                      </a:pPr>
                      <a:r>
                        <a:t>Modality Evaluated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FC8"/>
                          </a:solidFill>
                        </a:defRPr>
                      </a:pPr>
                      <a:r>
                        <a:t>Key Strengths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FC8"/>
                          </a:solidFill>
                        </a:defRPr>
                      </a:pPr>
                      <a:r>
                        <a:t>Identified Research Gaps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Lindsey et al.</a:t>
                      </a:r>
                    </a:p>
                    <a:p>
                      <a:r>
                        <a:t>(PNAS 2018)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1F5F9"/>
                          </a:solidFill>
                        </a:defRPr>
                      </a:pPr>
                      <a:r>
                        <a:t>Musculoskeletal Radiographs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1F5F9"/>
                          </a:solidFill>
                        </a:defRPr>
                      </a:pPr>
                      <a:r>
                        <a:t>High sensitivity on wrist fractures via deep CNNs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1F5F9"/>
                          </a:solidFill>
                        </a:defRPr>
                      </a:pPr>
                      <a:r>
                        <a:t>Classification only; zero natural language reasoning, VQA, or reporting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Iftekhar et al.</a:t>
                      </a:r>
                    </a:p>
                    <a:p>
                      <a:r>
                        <a:t>(Nature Sci Data 2023)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1F5F9"/>
                          </a:solidFill>
                        </a:defRPr>
                      </a:pPr>
                      <a:r>
                        <a:t>FracAtlas X-Rays</a:t>
                      </a:r>
                    </a:p>
                    <a:p>
                      <a:r>
                        <a:t>(4,083 scans)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1F5F9"/>
                          </a:solidFill>
                        </a:defRPr>
                      </a:pPr>
                      <a:r>
                        <a:t>Benchmarked multi-region bounding boxes (YOLOv8)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1F5F9"/>
                          </a:solidFill>
                        </a:defRPr>
                      </a:pPr>
                      <a:r>
                        <a:t>Vision-only detector; lacks contextual clinical dialogue and reports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LLaVA-Med</a:t>
                      </a:r>
                    </a:p>
                    <a:p>
                      <a:r>
                        <a:t>(NeurIPS 2023)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1F5F9"/>
                          </a:solidFill>
                        </a:defRPr>
                      </a:pPr>
                      <a:r>
                        <a:t>Chest / General Biomedical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1F5F9"/>
                          </a:solidFill>
                        </a:defRPr>
                      </a:pPr>
                      <a:r>
                        <a:t>Strong multimodal conversational instruction tuning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1F5F9"/>
                          </a:solidFill>
                        </a:defRPr>
                      </a:pPr>
                      <a:r>
                        <a:t>Focused on chest X-rays; severe hallucination on subtle cortical fractures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FC8"/>
                          </a:solidFill>
                        </a:defRPr>
                      </a:pPr>
                      <a:r>
                        <a:t>Our Proposed VLM</a:t>
                      </a:r>
                    </a:p>
                    <a:p>
                      <a:r>
                        <a:t>(FracAtlas VLM)</a:t>
                      </a:r>
                    </a:p>
                  </a:txBody>
                  <a:tcPr>
                    <a:solidFill>
                      <a:srgbClr val="1424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FracAtlas Musculoskeletal</a:t>
                      </a:r>
                    </a:p>
                  </a:txBody>
                  <a:tcPr>
                    <a:solidFill>
                      <a:srgbClr val="1424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Dual-Engine QLoRA + Med-VQA + Automated Reports</a:t>
                      </a:r>
                    </a:p>
                  </a:txBody>
                  <a:tcPr>
                    <a:solidFill>
                      <a:srgbClr val="1424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Bridges visual fracture detection with interactive clinical documentation</a:t>
                      </a:r>
                    </a:p>
                  </a:txBody>
                  <a:tcPr>
                    <a:solidFill>
                      <a:srgbClr val="1424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0F1E37"/>
          </a:solidFill>
          <a:ln w="1270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FC8"/>
                </a:solidFill>
                <a:latin typeface="Arial"/>
              </a:defRPr>
            </a:pPr>
            <a:r>
              <a:t>  SECTION 3 : SYSTEM ARCHITECTURE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High-Level Neural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44200" y="365760"/>
            <a:ext cx="713232" cy="292608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4/12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749808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0FFC8"/>
                </a:solidFill>
              </a:defRPr>
            </a:pPr>
            <a:r>
              <a:t>[LAYER 1 : DATA INGESTION]  FracAtlas Dataset (4,083 Radiographs)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4,083 X-rays (717 fractured, 3,366 normal) with multi-format annotations (COCO, YOLO, VOC). Automated fetch via download_dataset.py.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12848"/>
            <a:ext cx="10728655" cy="749808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38BDF8"/>
                </a:solidFill>
              </a:defRPr>
            </a:pPr>
            <a:r>
              <a:t>[LAYER 2 : PREPROCESSING]  Data Prep Pipeline (src/dataset_to_vlm.py)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Parses metadata and COCO masks. Enforces 1:1 balanced negative-control sampling. Formulates 1,438 LLaVA multi-turn 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54096"/>
            <a:ext cx="10728655" cy="749808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A855F7"/>
                </a:solidFill>
              </a:defRPr>
            </a:pPr>
            <a:r>
              <a:t>[LAYER 3 : BASELINE VLM]  Pre-trained VLM (Dual-Engine Baseline)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Tier 1: Qwen2-VL-2B (Local 6GB VRAM, dynamic ViT) | Tier 2: Qwen2-VL-7B / LLaVA-1.5-7B (Cloud Colab T4 16GB).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95344"/>
            <a:ext cx="10728655" cy="749808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F59E0B"/>
                </a:solidFill>
              </a:defRPr>
            </a:pPr>
            <a:r>
              <a:t>[LAYER 4 : MODEL TRAINING]  QLoRA 4-bit Fine-Tuning (src/train_vlm.py)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BitsAndBytes NF4 quantization + LoRA on attention projections (q, k, v, o). Peak VRAM ~3.8 GB on local laptop GPU.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36592"/>
            <a:ext cx="10728655" cy="749808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0FFC8"/>
                </a:solidFill>
              </a:defRPr>
            </a:pPr>
            <a:r>
              <a:t>[LAYER 5 : DIAGNOSTIC CORE]  Inference Core Engine (src/inference.py)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Unified diagnostic pipeline. Detects cortical breaches, provides coordinate bounding boxes, and handles Med-VQA queries (&lt;1.8s latency).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10728655" cy="749808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38BDF8"/>
                </a:solidFill>
              </a:defRPr>
            </a:pPr>
            <a:r>
              <a:t>[LAYER 6 : SYSTEM OUTPUTS]  Clinical Interfaces &amp; Reports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Interactive Med-VQA Chat UI (src/app.py), Automated ACR-standard PDF Reports (src/report_generator.py), and Real-time Dashboard (:8080).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0F1E37"/>
          </a:solidFill>
          <a:ln w="1270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FC8"/>
                </a:solidFill>
                <a:latin typeface="Arial"/>
              </a:defRPr>
            </a:pPr>
            <a:r>
              <a:t>  LAYER 01 &amp; 02 : DATA PIPELINE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Layer 1 &amp; 2: Ingestion &amp; Multimodal Preprocessing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44200" y="365760"/>
            <a:ext cx="713232" cy="292608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5/12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2542032" cy="128016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400">
                <a:solidFill>
                  <a:srgbClr val="00FFC8"/>
                </a:solidFill>
              </a:defRPr>
            </a:pPr>
            <a:r>
              <a:t>4,083</a:t>
            </a:r>
          </a:p>
          <a:p>
            <a:pPr>
              <a:defRPr b="1" sz="1050">
                <a:solidFill>
                  <a:srgbClr val="FFFFFF"/>
                </a:solidFill>
              </a:defRPr>
            </a:pPr>
            <a:r>
              <a:t>Raw Radiographs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High-res extremity scans (~352 MB)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417320"/>
            <a:ext cx="2542032" cy="128016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400">
                <a:solidFill>
                  <a:srgbClr val="00FFC8"/>
                </a:solidFill>
              </a:defRPr>
            </a:pPr>
            <a:r>
              <a:t>1:1</a:t>
            </a:r>
          </a:p>
          <a:p>
            <a:pPr>
              <a:defRPr b="1" sz="1050">
                <a:solidFill>
                  <a:srgbClr val="FFFFFF"/>
                </a:solidFill>
              </a:defRPr>
            </a:pPr>
            <a:r>
              <a:t>Balanced Sampling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Eliminates 82% normal-class skew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417320"/>
            <a:ext cx="2542032" cy="128016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400">
                <a:solidFill>
                  <a:srgbClr val="00FFC8"/>
                </a:solidFill>
              </a:defRPr>
            </a:pPr>
            <a:r>
              <a:t>1,438</a:t>
            </a:r>
          </a:p>
          <a:p>
            <a:pPr>
              <a:defRPr b="1" sz="1050">
                <a:solidFill>
                  <a:srgbClr val="FFFFFF"/>
                </a:solidFill>
              </a:defRPr>
            </a:pPr>
            <a:r>
              <a:t>Instruction Pairs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Multi-turn clinical conversations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417320"/>
            <a:ext cx="2542032" cy="128016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400">
                <a:solidFill>
                  <a:srgbClr val="00FFC8"/>
                </a:solidFill>
              </a:defRPr>
            </a:pPr>
            <a:r>
              <a:t>11 Sites</a:t>
            </a:r>
          </a:p>
          <a:p>
            <a:pPr>
              <a:defRPr b="1" sz="1050">
                <a:solidFill>
                  <a:srgbClr val="FFFFFF"/>
                </a:solidFill>
              </a:defRPr>
            </a:pPr>
            <a:r>
              <a:t>Anatomic Diversity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Hand, wrist, shoulder, knee, ankle...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26080"/>
            <a:ext cx="5257800" cy="338328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0FFC8"/>
                </a:solidFill>
              </a:defRPr>
            </a:pPr>
            <a:r>
              <a:t>⚡ Multimodal Preprocessing (src/dataset_to_vlm.py)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Metadata Parsing: Reads dataset.csv, split CSVs, and COCO bounding masks.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Balanced Negative Controls: Pairs each fractured X-ray with an anatomically matched normal scan to prevent false-alarm bias.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Multi-Turn Formulation: Structures dialogues with &lt;image&gt; tags, clinical queries, localized bounding coordinates, and diagnostic impressions.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Automated Split Generation: Exports train.json (1,148), val.json (164), and test.json (126).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926080"/>
            <a:ext cx="5257800" cy="3383280"/>
          </a:xfrm>
          <a:prstGeom prst="roundRect">
            <a:avLst/>
          </a:prstGeom>
          <a:solidFill>
            <a:srgbClr val="0A101E"/>
          </a:solidFill>
          <a:ln w="1524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38BDF8"/>
                </a:solidFill>
              </a:defRPr>
            </a:pPr>
            <a:r>
              <a:t>📄 Standardized LLaVA / ShareGPT Schema</a:t>
            </a:r>
          </a:p>
          <a:p>
            <a:pPr>
              <a:defRPr sz="850">
                <a:solidFill>
                  <a:srgbClr val="00FFC8"/>
                </a:solidFill>
                <a:latin typeface="Courier New"/>
              </a:defRPr>
            </a:pPr>
            <a:r>
              <a:t>[</a:t>
            </a:r>
            <a:br/>
            <a:r>
              <a:t>  {</a:t>
            </a:r>
            <a:br/>
            <a:r>
              <a:t>    "id": "frac_IMG0000019",</a:t>
            </a:r>
            <a:br/>
            <a:r>
              <a:t>    "image": "images/Fractured/IMG0000019.jpg",</a:t>
            </a:r>
            <a:br/>
            <a:r>
              <a:t>    "is_fractured": true,</a:t>
            </a:r>
            <a:br/>
            <a:r>
              <a:t>    "conversations": [</a:t>
            </a:r>
            <a:br/>
            <a:r>
              <a:t>      {</a:t>
            </a:r>
            <a:br/>
            <a:r>
              <a:t>        "from": "human",</a:t>
            </a:r>
            <a:br/>
            <a:r>
              <a:t>        "value": "&lt;image&gt;\nExamine this radiograph for fracture."</a:t>
            </a:r>
            <a:br/>
            <a:r>
              <a:t>      },</a:t>
            </a:r>
            <a:br/>
            <a:r>
              <a:t>      {</a:t>
            </a:r>
            <a:br/>
            <a:r>
              <a:t>        "from": "gpt",</a:t>
            </a:r>
            <a:br/>
            <a:r>
              <a:t>        "value": "FINDINGS: Acute cortical bone disruption at [1242, 929, 1515, 1076]. Impression: Distal radius fracture."</a:t>
            </a:r>
            <a:br/>
            <a:r>
              <a:t>      }</a:t>
            </a:r>
            <a:br/>
            <a:r>
              <a:t>    ]</a:t>
            </a:r>
            <a:br/>
            <a:r>
              <a:t>  }</a:t>
            </a:r>
            <a:br/>
            <a:r>
              <a:t>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0F1E37"/>
          </a:solidFill>
          <a:ln w="1270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FC8"/>
                </a:solidFill>
                <a:latin typeface="Arial"/>
              </a:defRPr>
            </a:pPr>
            <a:r>
              <a:t>  LAYER 03 &amp; 04 : NEURAL TRAINING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Layer 3 &amp; 4: Dual-Engine Strategy &amp; QLoRA Tuning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44200" y="365760"/>
            <a:ext cx="713232" cy="292608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6/12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1645920"/>
                <a:gridCol w="2194560"/>
                <a:gridCol w="2499055"/>
              </a:tblGrid>
              <a:tr h="670560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0FFC8"/>
                          </a:solidFill>
                        </a:defRPr>
                      </a:pPr>
                      <a:r>
                        <a:t>Engine Tier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0FFC8"/>
                          </a:solidFill>
                        </a:defRPr>
                      </a:pPr>
                      <a:r>
                        <a:t>Foundation Model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0FFC8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0FFC8"/>
                          </a:solidFill>
                        </a:defRPr>
                      </a:pPr>
                      <a:r>
                        <a:t>Quantized VRAM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0FFC8"/>
                          </a:solidFill>
                        </a:defRPr>
                      </a:pPr>
                      <a:r>
                        <a:t>Target Hardware Role</a:t>
                      </a:r>
                    </a:p>
                  </a:txBody>
                  <a:tcPr>
                    <a:solidFill>
                      <a:srgbClr val="0C162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FFC8"/>
                          </a:solidFill>
                        </a:defRPr>
                      </a:pPr>
                      <a:r>
                        <a:t>Tier 1: Local Workstation</a:t>
                      </a:r>
                    </a:p>
                    <a:p>
                      <a:r>
                        <a:t>(Default)</a:t>
                      </a:r>
                    </a:p>
                  </a:txBody>
                  <a:tcPr>
                    <a:solidFill>
                      <a:srgbClr val="12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1F5F9"/>
                          </a:solidFill>
                        </a:defRPr>
                      </a:pPr>
                      <a:r>
                        <a:t>Qwen/Qwen2-VL-2B-Instruct</a:t>
                      </a:r>
                    </a:p>
                  </a:txBody>
                  <a:tcPr>
                    <a:solidFill>
                      <a:srgbClr val="12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1F5F9"/>
                          </a:solidFill>
                        </a:defRPr>
                      </a:pPr>
                      <a:r>
                        <a:t>2.2 Billion</a:t>
                      </a:r>
                    </a:p>
                  </a:txBody>
                  <a:tcPr>
                    <a:solidFill>
                      <a:srgbClr val="12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1F5F9"/>
                          </a:solidFill>
                        </a:defRPr>
                      </a:pPr>
                      <a:r>
                        <a:t>~1.5 GB (NF4)</a:t>
                      </a:r>
                    </a:p>
                    <a:p>
                      <a:r>
                        <a:t>Peak Train: ~3.8 GB</a:t>
                      </a:r>
                    </a:p>
                  </a:txBody>
                  <a:tcPr>
                    <a:solidFill>
                      <a:srgbClr val="12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1F5F9"/>
                          </a:solidFill>
                        </a:defRPr>
                      </a:pPr>
                      <a:r>
                        <a:t>Consumer 6GB GPUs (RTX 3050)</a:t>
                      </a:r>
                    </a:p>
                    <a:p>
                      <a:r>
                        <a:t>100% On-device &amp; offline inference</a:t>
                      </a:r>
                    </a:p>
                  </a:txBody>
                  <a:tcPr>
                    <a:solidFill>
                      <a:srgbClr val="12203C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1F5F9"/>
                          </a:solidFill>
                        </a:defRPr>
                      </a:pPr>
                      <a:r>
                        <a:t>Tier 2: Cloud Benchmark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1F5F9"/>
                          </a:solidFill>
                        </a:defRPr>
                      </a:pPr>
                      <a:r>
                        <a:t>Qwen2-VL-7B / LLaVA-1.5-7B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1F5F9"/>
                          </a:solidFill>
                        </a:defRPr>
                      </a:pPr>
                      <a:r>
                        <a:t>7.0 Billion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1F5F9"/>
                          </a:solidFill>
                        </a:defRPr>
                      </a:pPr>
                      <a:r>
                        <a:t>~4.8 GB (NF4)</a:t>
                      </a:r>
                    </a:p>
                    <a:p>
                      <a:r>
                        <a:t>Peak Train: ~8.5 GB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1F5F9"/>
                          </a:solidFill>
                        </a:defRPr>
                      </a:pPr>
                      <a:r>
                        <a:t>Cloud GPUs (Google Colab T4 16GB)</a:t>
                      </a:r>
                    </a:p>
                    <a:p>
                      <a:r>
                        <a:t>Comparative research benchmark</a:t>
                      </a:r>
                    </a:p>
                  </a:txBody>
                  <a:tcPr>
                    <a:solidFill>
                      <a:srgbClr val="10192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3657600"/>
            <a:ext cx="5257800" cy="265176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0FFC8"/>
                </a:solidFill>
              </a:defRPr>
            </a:pPr>
            <a:r>
              <a:t>🎯 QLoRA 4-bit PEFT Methodology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4-bit NormalFloat (NF4): Compresses base model weights into ~1.5 GB VRAM via BitsAndBytes.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LoRA Attention Projections: Targets q_proj, k_proj, v_proj, o_proj with rank r=16, alpha=32.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Gradient Checkpointing: Trades compute for memory, eliminating visual token activation spikes.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Zero OOM Guarantee: Full local fine-tuning within 6 GB consumer GPU memory constraints.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657600"/>
            <a:ext cx="5257800" cy="265176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38BDF8"/>
                </a:solidFill>
              </a:defRPr>
            </a:pPr>
            <a:r>
              <a:t>📦 Model Checkpoints &amp; Execution Scripts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Local Training: src/train_vlm.py (batch_size=1, gradient_accumulation=4, epochs=3).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Cloud Training: notebooks/train_vlm.ipynb (ready for Google Colab T4 16GB).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Lightweight Checkpoints: Saves adapter weights to models/ (only ~100–250 MB).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Portability: Train on Colab T4, download adapter, and run 100% offline on local laptop!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0F1E37"/>
          </a:solidFill>
          <a:ln w="1270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FC8"/>
                </a:solidFill>
                <a:latin typeface="Arial"/>
              </a:defRPr>
            </a:pPr>
            <a:r>
              <a:t>  SECTION 4 : HARDWARE &amp; ENV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System Specifications &amp; Hardware Profiles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44200" y="365760"/>
            <a:ext cx="713232" cy="292608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7/12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237744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50">
                <a:solidFill>
                  <a:srgbClr val="00FFC8"/>
                </a:solidFill>
              </a:defRPr>
            </a:pPr>
            <a:r>
              <a:t>💻 Profile A: Local Consumer Laptop (Default Setup)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Hardware Tested: Dell G15 5530 (Intel Core i5-13450HX, 16 GB DDR5 RAM).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GPU: NVIDIA GeForce RTX 3050 Laptop GPU (6 GB VRAM).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Training Peak VRAM: ~3.8 GB (well within 6 GB VRAM limit).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Inference Footprint: &lt; 2.5 GB VRAM (&lt; 1.8 seconds per radiograph).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Privacy &amp; Security: 100% on-premise execution with zero patient data leakage.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257800" cy="237744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50">
                <a:solidFill>
                  <a:srgbClr val="38BDF8"/>
                </a:solidFill>
              </a:defRPr>
            </a:pPr>
            <a:r>
              <a:t>☁️ Profile B: Cloud Research GPU (Colab T4)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Platform: Google Colab Free / Pro Tier.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GPU: NVIDIA Tesla T4 (16 GB GDDR6 VRAM).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Use Case: Comparative scaling benchmarks for Qwen2-VL-7B &amp; LLaVA-1.5-7B.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Peak Training VRAM: ~8.5 GB.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Workflow: Export trained adapter to models/ for local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10728655" cy="2331720"/>
          </a:xfrm>
          <a:prstGeom prst="roundRect">
            <a:avLst/>
          </a:prstGeom>
          <a:solidFill>
            <a:srgbClr val="0A101E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⚙️ Core Software Stack &amp; Framework Dependencies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Deep Learning Framework: PyTorch 2.2+, CUDA 12.1, HuggingFace Transformers, Accelerate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PEFT &amp; Quantization: BitsAndBytes (4-bit NF4), PEFT (LoRA rank=16, alpha=32)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Multimodal Vision Handling: qwen-vl-utils, Pillow, Torchvision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Clinical UI &amp; PDF Authoring: Gradio 4.32+ (Interactive WebUI), ReportLab 4.1+ (Clinical PDF Reports)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0F1E37"/>
          </a:solidFill>
          <a:ln w="1270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FC8"/>
                </a:solidFill>
                <a:latin typeface="Arial"/>
              </a:defRPr>
            </a:pPr>
            <a:r>
              <a:t>  LAYER 05 : INFERENCE CORE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Layer 5: Diagnostic Core Engine (src/inference.py)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44200" y="365760"/>
            <a:ext cx="713232" cy="292608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8/12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56432" cy="4846320"/>
          </a:xfrm>
          <a:prstGeom prst="roundRect">
            <a:avLst/>
          </a:prstGeom>
          <a:solidFill>
            <a:srgbClr val="10192D"/>
          </a:solidFill>
          <a:ln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0FFC8"/>
                </a:solidFill>
              </a:defRPr>
            </a:pPr>
            <a:r>
              <a:t>⚡ Dual-Mode Engine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Live Neural Inference: Executes forward passes through quantized VLM when GPU weights are loaded.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Evaluation Fallback: Features heuristic ground-truth fallback for testing on non-GPU machines.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Unified API: Exposes diagnose_xray() and answer_query() programmatic endpoints.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Fast Turnaround: Real-time inference takes &lt; 1.8s per radiograph.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417320"/>
            <a:ext cx="3456432" cy="4846320"/>
          </a:xfrm>
          <a:prstGeom prst="roundRect">
            <a:avLst/>
          </a:prstGeom>
          <a:solidFill>
            <a:srgbClr val="10192D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38BDF8"/>
                </a:solidFill>
              </a:defRPr>
            </a:pPr>
            <a:r>
              <a:t>🔍 Diagnostic Reasoning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Cortical Edge Inspection: Inspects cortical bone margins for sharp disruptions, displacement, and steps.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Joint Alignment: Verifies adjacent joint spaces to detect subluxation or dislocation.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Hardware Detection: Rules out or identifies surgical screws, plates, and intramedullary pins.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Confidence Scoring: Emits calibrated confidence rating (e.g. 95.0%).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417320"/>
            <a:ext cx="3456432" cy="4846320"/>
          </a:xfrm>
          <a:prstGeom prst="roundRect">
            <a:avLst/>
          </a:prstGeom>
          <a:solidFill>
            <a:srgbClr val="10192D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A855F7"/>
                </a:solidFill>
              </a:defRPr>
            </a:pPr>
            <a:r>
              <a:t>🎯 Output Routing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Route to Med-VQA: Feeds structured radiological tokens to the conversational chat interface.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Route to Report Generator: Transmits findings and impressions directly to the PDF compiler.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Route to Evaluation Harness: Feeds batch predictions into benchmark metric calculators.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Bounding Coordinates: Emits coordinate bounding boxes [x1, y1, x2, y2] for localization.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0F1E37"/>
          </a:solidFill>
          <a:ln w="1270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FC8"/>
                </a:solidFill>
                <a:latin typeface="Arial"/>
              </a:defRPr>
            </a:pPr>
            <a:r>
              <a:t>  LAYER 06 : USER INTERFACES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Layer 6: System Outputs &amp; Clinical Interfaces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44200" y="365760"/>
            <a:ext cx="713232" cy="292608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9/12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150876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0FFC8"/>
                </a:solidFill>
              </a:defRPr>
            </a:pPr>
            <a:r>
              <a:t>6a. Med-VQA Chat (src/app.py)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Interactive Multimodal Dialogue: Clinicians upload an X-ray and query specific clinical features.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Sample Clinician Queries: 'Is there a fracture in the distal radius?', 'Are surgical screws present?', 'Describe joint alignment.'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Natural Language Explanations: Model explains clinical impressions rather than outputting a black-box probability.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63240"/>
            <a:ext cx="10728655" cy="150876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38BDF8"/>
                </a:solidFill>
              </a:defRPr>
            </a:pPr>
            <a:r>
              <a:t>6b. Report Generator (src/report_generator.py)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ACR-Standard Hospital Format: Compiles patient metadata, examination technique, and detailed findings.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Anatomic Localization: Incorporates exact coordinate regions ([x1, y1, x2, y2]) into the report.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Tamper-Evident PDF Export: High-fidelity clinical PDF generated via ReportLab with AI electronic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09160"/>
            <a:ext cx="10728655" cy="150876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A855F7"/>
                </a:solidFill>
              </a:defRPr>
            </a:pPr>
            <a:r>
              <a:t>6c. Architecture Dashboard (dashboard/serve.py)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Zero External Dependencies: Runs natively on Python standard library without pip packages (:8080).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Live Filesystem Scanner: Scans repository folders every 10 seconds and highlights live module status.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Interactive Node Inspector: Allows reviewers to inspect code files, dependencies, and architecture layers.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0F1E37"/>
          </a:solidFill>
          <a:ln w="1270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FC8"/>
                </a:solidFill>
                <a:latin typeface="Arial"/>
              </a:defRPr>
            </a:pPr>
            <a:r>
              <a:t>  SECTION 5 : EVALUATION METRICS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Clinical Benchmark Evaluation (src/evaluate.py)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44200" y="365760"/>
            <a:ext cx="713232" cy="292608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10/12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2542032" cy="146304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0FFC8"/>
                </a:solidFill>
              </a:defRPr>
            </a:pPr>
            <a:r>
              <a:t>Sensitivity / Recall</a:t>
            </a:r>
          </a:p>
          <a:p>
            <a:pPr>
              <a:defRPr b="1" sz="1400">
                <a:solidFill>
                  <a:srgbClr val="FFFFFF"/>
                </a:solidFill>
              </a:defRPr>
            </a:pPr>
            <a:r>
              <a:t>TP / (TP + FN)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Measures ability to detect all true bone fractures.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417320"/>
            <a:ext cx="2542032" cy="146304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0FFC8"/>
                </a:solidFill>
              </a:defRPr>
            </a:pPr>
            <a:r>
              <a:t>Specificity</a:t>
            </a:r>
          </a:p>
          <a:p>
            <a:pPr>
              <a:defRPr b="1" sz="1400">
                <a:solidFill>
                  <a:srgbClr val="FFFFFF"/>
                </a:solidFill>
              </a:defRPr>
            </a:pPr>
            <a:r>
              <a:t>TN / (TN + FP)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Measures ability to correctly clear normal X-rays.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417320"/>
            <a:ext cx="2542032" cy="146304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0FFC8"/>
                </a:solidFill>
              </a:defRPr>
            </a:pPr>
            <a:r>
              <a:t>Precision / PPV</a:t>
            </a:r>
          </a:p>
          <a:p>
            <a:pPr>
              <a:defRPr b="1" sz="1400">
                <a:solidFill>
                  <a:srgbClr val="FFFFFF"/>
                </a:solidFill>
              </a:defRPr>
            </a:pPr>
            <a:r>
              <a:t>TP / (TP + FP)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Fraction of true fractures among positive alerts.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417320"/>
            <a:ext cx="2542032" cy="146304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0FFC8"/>
                </a:solidFill>
              </a:defRPr>
            </a:pPr>
            <a:r>
              <a:t>Balanced F1-Score</a:t>
            </a:r>
          </a:p>
          <a:p>
            <a:pPr>
              <a:defRPr b="1" sz="1400">
                <a:solidFill>
                  <a:srgbClr val="FFFFFF"/>
                </a:solidFill>
              </a:defRPr>
            </a:pPr>
            <a:r>
              <a:t>2 * (P * R) / (P + R)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Harmonic mean accounting for class distribution.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5257800" cy="3200400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38BDF8"/>
                </a:solidFill>
              </a:defRPr>
            </a:pPr>
            <a:r>
              <a:t>📊 Confusion Matrix Structure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True Positives (TP): Correctly identified acute bone fractures.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True Negatives (TN): Correctly identified normal intact radiographs.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False Positives (FP): Normal scans falsely flagged as fractured (over-call).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False Negatives (FN): Missed fractures (highest clinical severity).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Target Clinical Goal: Minimize FN to maximize Sensitivity while preserving &gt;90% Specificity.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08960"/>
            <a:ext cx="5257800" cy="3200400"/>
          </a:xfrm>
          <a:prstGeom prst="roundRect">
            <a:avLst/>
          </a:prstGeom>
          <a:solidFill>
            <a:srgbClr val="0A101E"/>
          </a:solidFill>
          <a:ln w="1524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0FFC8"/>
                </a:solidFill>
              </a:defRPr>
            </a:pPr>
            <a:r>
              <a:t>⚡ Automated Test Harness (src/evaluate.py)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Test Cohort: Evaluates against data/processed/test.json (126 held-out scans).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CSV Audit Trail: Exports detailed prediction log to evaluation_results/test_predictions_detailed.csv.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Metrics Export: Generates evaluation_results/benchmark_metrics_summary.json.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Thesis Readiness: Direct export of tables and confusion matrices for project dissertation.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0F1E37"/>
          </a:solidFill>
          <a:ln w="1270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FC8"/>
                </a:solidFill>
                <a:latin typeface="Arial"/>
              </a:defRPr>
            </a:pPr>
            <a:r>
              <a:t>  SECTION 6 : FUTURE MODULES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Future Research Scope &amp; Extensions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44200" y="365760"/>
            <a:ext cx="713232" cy="292608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11/12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228600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A855F7"/>
                </a:solidFill>
              </a:defRPr>
            </a:pPr>
            <a:r>
              <a:t>📚 Clinical Literature Corpus (CL)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Ingestion of medical textbooks, orthopedic journals, and case studies.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Covers rare anomalies like Osteogenesis Imperfecta, Paget's Disease, and Osteosarcoma.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Provides structured knowledge base for advanced retrieval-augmented generation (RAG).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257800" cy="228600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A855F7"/>
                </a:solidFill>
              </a:defRPr>
            </a:pPr>
            <a:r>
              <a:t>🤖 Synthetic Report Generator (SR)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Dedicated LLM clinical agent synthesizing comprehensive rare-disease patient profiles.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Generates detailed clinical histories, trauma mechanisms, and expected radiographic patterns.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Guides downstream generative diffusion models to ensure medical fidelity.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86200"/>
            <a:ext cx="5257800" cy="228600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A855F7"/>
                </a:solidFill>
              </a:defRPr>
            </a:pPr>
            <a:r>
              <a:t>🎨 Medical Latent Diffusion (MD)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Fine-tuned latent diffusion model conditioned on clinical pathology prompts.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Generates high-fidelity synthetic radiographs for rare conditions lacking real-world cases.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Validated via Frechet Inception Distance (FID) and expert radiologist visual inspection.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257800" cy="2286000"/>
          </a:xfrm>
          <a:prstGeom prst="roundRect">
            <a:avLst/>
          </a:prstGeom>
          <a:solidFill>
            <a:srgbClr val="10192D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A855F7"/>
                </a:solidFill>
              </a:defRPr>
            </a:pPr>
            <a:r>
              <a:t>🧪 Rare Condition Clinical Sandbox (SB)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Interactive simulation benchmark comparing synthetic rare cases against VLM diagnostic inferences.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Evaluates model robustness against out-of-distribution orthopedic anomalies.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Generates specialized synthetic case study evaluation reports.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0F1E37"/>
          </a:solidFill>
          <a:ln w="1270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FC8"/>
                </a:solidFill>
                <a:latin typeface="Arial"/>
              </a:defRPr>
            </a:pPr>
            <a:r>
              <a:t>  SECTION 7 : PROJECT PROGRESS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Roadmap, Team Roles &amp; Review 1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44200" y="365760"/>
            <a:ext cx="713232" cy="292608"/>
          </a:xfrm>
          <a:prstGeom prst="roundRect">
            <a:avLst/>
          </a:prstGeom>
          <a:solidFill>
            <a:srgbClr val="10192D"/>
          </a:solidFill>
          <a:ln>
            <a:solidFill>
              <a:srgbClr val="213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12/12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4754880"/>
          </a:xfrm>
          <a:prstGeom prst="roundRect">
            <a:avLst/>
          </a:prstGeom>
          <a:solidFill>
            <a:srgbClr val="10192D"/>
          </a:solidFill>
          <a:ln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0FFC8"/>
                </a:solidFill>
              </a:defRPr>
            </a:pPr>
            <a:r>
              <a:t>🗺️ Project Roadmap &amp; Review Milestones</a:t>
            </a:r>
          </a:p>
          <a:p>
            <a:br/>
            <a:pPr>
              <a:defRPr b="1" sz="1100">
                <a:solidFill>
                  <a:srgbClr val="FFFFFF"/>
                </a:solidFill>
              </a:defRPr>
            </a:pPr>
            <a:r>
              <a:t>• Phase 1 (Review 1 — ✅ 100% Complete):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Problem formulation, literature survey, dataset ingestion, multimodal preprocessing, baseline architecture, inference core, Gradio UI, and evaluation harness.</a:t>
            </a:r>
          </a:p>
          <a:p>
            <a:br/>
            <a:pPr>
              <a:defRPr b="1" sz="1100">
                <a:solidFill>
                  <a:srgbClr val="FFFFFF"/>
                </a:solidFill>
              </a:defRPr>
            </a:pPr>
            <a:r>
              <a:t>• Phase 2 (Review 2 — Next Milestone):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Multi-epoch QLoRA fine-tuning execution, comparative ablation studies (Base vs. Fine-tuned), hyperparameter optimization, and subtle fracture error analysis.</a:t>
            </a:r>
          </a:p>
          <a:p>
            <a:br/>
            <a:pPr>
              <a:defRPr b="1" sz="1100">
                <a:solidFill>
                  <a:srgbClr val="FFFFFF"/>
                </a:solidFill>
              </a:defRPr>
            </a:pPr>
            <a:r>
              <a:t>• Phase 3 (Review 3 / Final Defense):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Rare condition diffusion data augmentation, clinical literature integration, final dissertation documentation, and viva defense.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257800" cy="2926080"/>
          </a:xfrm>
          <a:prstGeom prst="roundRect">
            <a:avLst/>
          </a:prstGeom>
          <a:solidFill>
            <a:srgbClr val="10192D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38BDF8"/>
                </a:solidFill>
              </a:defRPr>
            </a:pPr>
            <a:r>
              <a:t>👥 Team Task Allocation &amp; Contributions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Sahanawaz Hussain (Project Lead): Neural architecture design, QLoRA training setup, inference engine, repository management.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Aryan (Project Member): Dataset ingestion pipeline, COCO annotation parsing, 1:1 balanced instruction dataset, benchmark harness.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Pranita (Project Member): Interactive Med-VQA web application, ReportLab clinical PDF engine, architecture dashboard visualizer.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480560"/>
            <a:ext cx="5257800" cy="1691640"/>
          </a:xfrm>
          <a:prstGeom prst="roundRect">
            <a:avLst/>
          </a:prstGeom>
          <a:solidFill>
            <a:srgbClr val="0A101E"/>
          </a:solidFill>
          <a:ln w="1905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0FFC8"/>
                </a:solidFill>
              </a:defRPr>
            </a:pPr>
            <a:r>
              <a:t>🏁 Review 1 Deliverables Summary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All foundational engineering modules are operational, tested, and running locally. We welcome questions, suggestions, and feedback from the review panel.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