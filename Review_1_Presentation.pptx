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1036289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51560"/>
            <a:ext cx="9418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ASSAM ENGINEERING COLLEGE, JALUKBARI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25880"/>
            <a:ext cx="9418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Department of Electronics and Telecommunication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737360"/>
            <a:ext cx="94183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FracAtlas Medical Vision-Language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8892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284C7"/>
                </a:solidFill>
                <a:latin typeface="Arial"/>
              </a:defRPr>
            </a:pPr>
            <a:r>
              <a:t>Multimodal AI for Musculoskeletal Fracture Detection, Conversational Med-VQA, and Automated 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3383280"/>
            <a:ext cx="4114800" cy="365760"/>
          </a:xfrm>
          <a:prstGeom prst="roundRect">
            <a:avLst/>
          </a:prstGeom>
          <a:solidFill>
            <a:srgbClr val="F0F9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284C7"/>
                </a:solidFill>
                <a:latin typeface="Arial"/>
              </a:defRPr>
            </a:pPr>
            <a:r>
              <a:t>B.Tech 7th Semester Major Project Work — Review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977639"/>
            <a:ext cx="448056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284C7"/>
                </a:solidFill>
              </a:defRPr>
            </a:pPr>
            <a:r>
              <a:t>PROJECT GROUP MEMBERS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Sahanawaz Hussain (Roll No: ________)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Aryan (Roll No: ________)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Pranita (Roll No: ________)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977639"/>
            <a:ext cx="4663440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0284C7"/>
                </a:solidFill>
              </a:defRPr>
            </a:pPr>
            <a:r>
              <a:t>SUPERVISION &amp; REPOSITORY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Project Guide: [Guide / Supervisor Name]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Batch: 2023 - 2027 (7th Semester)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Repository: github.com/Sahanawaz233/medical-vlm-fracatlas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Introduction &amp; Background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85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2/13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564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🦴 Musculoskeletal Radiography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First-Line Modality: Digital projection radiography (X-ray) is the standard initial imaging modality for trauma emergencies.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High Clinical Volume: Over 60% of all emergency imaging consists of musculoskeletal radiographs.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Diagnostic Pressure: Emergency doctors must make rapid triage decisions under intense time pressure.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508760"/>
            <a:ext cx="345643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🤖 Evolution of Medical AI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1st Gen: Handcrafted image features &amp; classical classification.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2nd Gen: Deep CNNs (ResNet, YOLO) outputting bounding boxes without textual explanation.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3rd Gen (Current): Multimodal Vision-Language Models (VLMs) that integrate visual perception with natural clinical language.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508760"/>
            <a:ext cx="3456432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💡 What is a Medical VLM?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Combines a Vision Transformer (processes X-ray pixels) with a Large Language Model (generates clinical dialogue).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Enables physicians to converse directly with imaging scans (Med-VQA) and receive structured clinical impressions.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Generates automated clinical reports conforming to standard radiology practice.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2. NEED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Need Analysis &amp; Clinical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85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3/13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D97706"/>
                </a:solidFill>
              </a:defRPr>
            </a:pPr>
            <a:r>
              <a:t>🚨 Emergency Triage Bottleneck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Severe shortage of specialized radiologists during night shifts and peak trauma hours.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Initial radiographs are routinely interpreted by non-radiologist junior emergency doctors.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Turnaround delays directly impact emergency stabilization and orthopedic surgery.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0876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D97706"/>
                </a:solidFill>
              </a:defRPr>
            </a:pPr>
            <a:r>
              <a:t>⚠️ Up to 80% Missed Fractures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Clinical literature confirms missed fractures account for up to 80% of emergency diagnostic errors.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Hairline, non-displaced, and pediatric extremity fractures are easily overlooked.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Delayed diagnosis causes permanent bone malunion, chronic pain, and avoidable arthrosis.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284C7"/>
                </a:solidFill>
              </a:defRPr>
            </a:pPr>
            <a:r>
              <a:t>📦 The 'Black-Box' CAD Limitation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Traditional CNN detectors (ResNet, YOLO) output only raw bounding boxes or binary heatmaps.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Mute systems: doctors cannot ask questions (e.g. 'Is there displacement?' or 'Is hardware present?').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Zero capability to draft standardized medical reports for hospital patient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931920"/>
            <a:ext cx="525780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D9488"/>
                </a:solidFill>
              </a:defRPr>
            </a:pPr>
            <a:r>
              <a:t>🎯 Value of Our Proposed System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Point-of-care assistive second-reader operating in real time (&lt; 2 seconds per scan).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Interactive Med-VQA allows clinicians to interrogate the scan in natural language.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Instant generation of verified, downloadable clinical radiology PDF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3.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Problem Statement &amp; Project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85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4/13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146304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284C7"/>
                </a:solidFill>
              </a:defRPr>
            </a:pPr>
            <a:r>
              <a:t>🎯 FORMAL PROBLEM STATEMENT</a:t>
            </a:r>
          </a:p>
          <a:p>
            <a:pPr>
              <a:defRPr sz="1250">
                <a:solidFill>
                  <a:srgbClr val="0F172A"/>
                </a:solidFill>
              </a:defRPr>
            </a:pPr>
            <a:r>
              <a:t>To design, implement, and evaluate a Multimodal Vision-Language Model tailored for musculoskeletal radiographs that performs acute fracture detection, interactive clinical Visual Question Answering (Med-VQA), and automated structured radiology report generation for emergency triage.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46120"/>
            <a:ext cx="52578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D9488"/>
                </a:solidFill>
              </a:defRPr>
            </a:pPr>
            <a:r>
              <a:t>✅ Project Scope &amp; Capabilities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Peripheral musculoskeletal extremity X-rays (hands, wrists, knees, ankles, etc.).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Binary fracture presence detection and bounding coordinate localization.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Conversational Med-VQA for cortical disruption, alignment, and hardware checks.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Automated clinical radiology report generation (PDF and text format).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Lightweight deployment runnable on local consumer GPU workstations.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246120"/>
            <a:ext cx="525780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64748B"/>
                </a:solidFill>
              </a:defRPr>
            </a:pPr>
            <a:r>
              <a:t>⚠️ Boundaries &amp; Future Considerations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Axial skeleton / spinal trauma (excluded from initial FracAtlas dataset).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CT / MRI 3D volumetric scans (focus is purely on 2D projection radiographs).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Definitive autonomous treatment decisions (the system functions as an assistive second-reader for clinicians, not a standalone doctor replacement).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4. LITERATURE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Literature Survey &amp; Comparative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85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5/13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920240"/>
                <a:gridCol w="3291840"/>
                <a:gridCol w="3413455"/>
              </a:tblGrid>
              <a:tr h="93268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Paper / Author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Modality Evaluated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Methodology &amp; Strengths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Gaps &amp; Limitations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Lindsey et al.</a:t>
                      </a:r>
                    </a:p>
                    <a:p>
                      <a:r>
                        <a:t>(PNAS 2018)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Musculoskeletal X-Rays</a:t>
                      </a:r>
                    </a:p>
                    <a:p>
                      <a:r>
                        <a:t>(Wrist, Hand)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Deep ResNet-based CNN.</a:t>
                      </a:r>
                    </a:p>
                    <a:p>
                      <a:r>
                        <a:t>Assisted clinicians with high wrist sensitivity.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Pure classification only.</a:t>
                      </a:r>
                    </a:p>
                    <a:p>
                      <a:r>
                        <a:t>No natural language reasoning, VQA dialogue, or reporting.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Iftekhar et al.</a:t>
                      </a:r>
                    </a:p>
                    <a:p>
                      <a:r>
                        <a:t>(Nature Sci Data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FracAtlas Dataset</a:t>
                      </a:r>
                    </a:p>
                    <a:p>
                      <a:r>
                        <a:t>(4,083 X-rays)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Curated benchmark dataset.</a:t>
                      </a:r>
                    </a:p>
                    <a:p>
                      <a:r>
                        <a:t>Benchmarked YOLOv8 and Faster R-CNN detectors.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Vision-only object detection.</a:t>
                      </a:r>
                    </a:p>
                    <a:p>
                      <a:r>
                        <a:t>Cannot answer clinical questions or draft radiology reports.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LLaVA-Med</a:t>
                      </a:r>
                    </a:p>
                    <a:p>
                      <a:r>
                        <a:t>(NeurIPS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Chest / General Biomedical</a:t>
                      </a:r>
                    </a:p>
                    <a:p>
                      <a:r>
                        <a:t>(MIMIC-CXR, PubMed)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Multimodal conversational VLM.</a:t>
                      </a:r>
                    </a:p>
                    <a:p>
                      <a:r>
                        <a:t>Instruction-tuned on biomedical QA pairs.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Heavily biased to chest X-rays.</a:t>
                      </a:r>
                    </a:p>
                    <a:p>
                      <a:r>
                        <a:t>Hallucinates on subtle cortical bone fracture lines.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284C7"/>
                          </a:solidFill>
                        </a:defRPr>
                      </a:pPr>
                      <a:r>
                        <a:t>Our Proposed VLM</a:t>
                      </a:r>
                    </a:p>
                    <a:p>
                      <a:r>
                        <a:t>(FracAtlas VLM)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FracAtlas Musculoskeletal</a:t>
                      </a:r>
                    </a:p>
                    <a:p>
                      <a:r>
                        <a:t>(11 extremity sites)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Qwen2-VL-2B with 4-bit QLoRA.</a:t>
                      </a:r>
                    </a:p>
                    <a:p>
                      <a:r>
                        <a:t>Detection + Med-VQA + Automated PDF Reports.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Addresses orthopedic neglect by bridging detection, interactive dialogue, and clinical documentation.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5. RESEARCH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Research Gaps &amp; Proposed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85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6/13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50">
                <a:solidFill>
                  <a:srgbClr val="0F172A"/>
                </a:solidFill>
              </a:defRPr>
            </a:pPr>
            <a:r>
              <a:t>Gap 1: Orthopedic Extremity Neglect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Over 90% of existing medical VLM literature is focused exclusively on chest radiography (MIMIC-CXR, CheXpert).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Musculoskeletal extremity fractures—the most common emergency room trauma—are completely neglected in conversational AI research.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63239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50">
                <a:solidFill>
                  <a:srgbClr val="0F172A"/>
                </a:solidFill>
              </a:defRPr>
            </a:pPr>
            <a:r>
              <a:t>Gap 2: The 'Mute Detector' Dilemma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Existing fracture detection tools (YOLO, Faster R-CNN) only output raw coordinates or heatmaps.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Clinicians cannot ask follow-up questions to understand fracture displacement, joint subluxation, or surgical hardware presence.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7720"/>
            <a:ext cx="10728655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50">
                <a:solidFill>
                  <a:srgbClr val="0F172A"/>
                </a:solidFill>
              </a:defRPr>
            </a:pPr>
            <a:r>
              <a:t>Gap 3: Prohibitive Hardware Barriers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7B+ parameter VLMs require 24–40 GB enterprise GPUs (A100), making them unusable for local hospital deployment.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Cloud-locked models introduce severe patient data privacy (HIPAA/GDPR) vulnerabilities over external networks.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6.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Objectives &amp; Key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85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7/13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284C7"/>
                </a:solidFill>
              </a:defRPr>
            </a:pPr>
            <a:r>
              <a:t>1. Data Preprocessing &amp; Instruction Formulation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Formulate an automated pipeline converting FracAtlas X-rays and annotations into 1,438 balanced LLaVA-format multi-turn clinical conversation pairs, enforcing a 1:1 negative control ratio.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79191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284C7"/>
                </a:solidFill>
              </a:defRPr>
            </a:pPr>
            <a:r>
              <a:t>2. Parameter-Efficient VLM Fine-Tuning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Fine-tune Qwen2-VL-2B on musculoskeletal trauma radiographs using QLoRA 4-bit (NF4) quantization, enabling full training and inference within consumer 6 GB GPU memory limits.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9624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284C7"/>
                </a:solidFill>
              </a:defRPr>
            </a:pPr>
            <a:r>
              <a:t>3. Conversational Med-VQA Assistant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Implement an interactive multimodal chat interface allowing clinicians to ask natural language queries regarding fracture presence, localization coordinates, and surgical hardware.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0056"/>
            <a:ext cx="10728655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284C7"/>
                </a:solidFill>
              </a:defRPr>
            </a:pPr>
            <a:r>
              <a:t>4. Automated Clinical Radiology Report Generation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Develop an automated report generator that transforms diagnostic findings and impressions into official, downloadable ACR-compliant radiology PDF reports with electronic AI sign-off.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7. DATASET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Layer 1: Dataset Description &amp; Exploration (FracAtlas)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85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8/13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542032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600">
                <a:solidFill>
                  <a:srgbClr val="0284C7"/>
                </a:solidFill>
              </a:defRPr>
            </a:pPr>
            <a:r>
              <a:t>4,083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Total Radiographs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High-res extremity scans (~352 MB)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508760"/>
            <a:ext cx="2542032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600">
                <a:solidFill>
                  <a:srgbClr val="0284C7"/>
                </a:solidFill>
              </a:defRPr>
            </a:pPr>
            <a:r>
              <a:t>717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Fractured Scans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17.56% positive trauma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508760"/>
            <a:ext cx="2542032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600">
                <a:solidFill>
                  <a:srgbClr val="0284C7"/>
                </a:solidFill>
              </a:defRPr>
            </a:pPr>
            <a:r>
              <a:t>3,366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Normal Controls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82.44% non-fractured cases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508760"/>
            <a:ext cx="2542032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600">
                <a:solidFill>
                  <a:srgbClr val="0284C7"/>
                </a:solidFill>
              </a:defRPr>
            </a:pPr>
            <a:r>
              <a:t>11 Sites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Anatomical Diversity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Hand, wrist, elbow, knee, ankle...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154680"/>
            <a:ext cx="52578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50">
                <a:solidFill>
                  <a:srgbClr val="0F172A"/>
                </a:solidFill>
              </a:defRPr>
            </a:pPr>
            <a:r>
              <a:t>🦴 Anatomical Extremity Sites Covered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Upper Extremities: Hand, Wrist, Forearm, Elbow, Humerus/Shoulder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Lower Extremities: Foot, Ankle, Tibia/Fibula, Knee, Femur, Pelvis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Imaging Modality: Digital Projection Radiography (DX)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Multi-Format Ground Truth: COCO masks, YOLO, Pascal VOC, VGG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154680"/>
            <a:ext cx="52578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50">
                <a:solidFill>
                  <a:srgbClr val="D97706"/>
                </a:solidFill>
              </a:defRPr>
            </a:pPr>
            <a:r>
              <a:t>⚠️ Class Imbalance &amp; Ingestion Automation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Natural Skew: Over 82% of raw radiographs are non-fractured normal controls.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Training Risk: Unbalanced training causes models to predict 'Normal' for all scans, achieving 82% accuracy with 0% clinical sensitivity.</a:t>
            </a:r>
          </a:p>
          <a:p>
            <a:pPr>
              <a:defRPr sz="1050">
                <a:solidFill>
                  <a:srgbClr val="334155"/>
                </a:solidFill>
              </a:defRPr>
            </a:pPr>
            <a:r>
              <a:t>• Ingestion Script: download_dataset.py automatically fetches archive, verifies MD5 checksum, and structures folders while preserving clean Git bounds.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8. DATA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Layer 2: Preprocessing Pipeline (src/dataset_to_vlm.py)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85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9/13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56432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0284C7"/>
                </a:solidFill>
              </a:defRPr>
            </a:pPr>
            <a:r>
              <a:t>Step 1: Annotation Parsing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Reads raw dataset.csv &amp; split CSVs.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Parses COCO_fracture_masks.json.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Extracts precise bounding coordinates [x1, y1, x2, y2] for each cortical fracture.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508760"/>
            <a:ext cx="3456432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D97706"/>
                </a:solidFill>
              </a:defRPr>
            </a:pPr>
            <a:r>
              <a:t>Step 2: 1:1 Balanced Sampling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Eliminates 82% normal control skew.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Pairs each fractured scan with an anatomically matched normal control.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Prevents the VLM from learning majority-class prediction bias.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10144" y="1508760"/>
            <a:ext cx="3456432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0D9488"/>
                </a:solidFill>
              </a:defRPr>
            </a:pPr>
            <a:r>
              <a:t>Step 3: Clinical Prompt Tuning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Injects varied radiologist query templates.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Structures dialogue with &lt;image&gt; tags.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• Formulates detailed diagnostic findings and clinical impressions.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5780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0F172A"/>
                </a:solidFill>
              </a:defRPr>
            </a:pPr>
            <a:r>
              <a:t>📊 Formatted Dataset Splits (1,438 Total Conversations)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Training Set (train.json): 1,148 samples (574 fractured + 574 normal)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Validation Set (val.json): 164 samples (82 fractured + 82 normal)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Test Benchmark Set (test.json): 126 samples (63 fractured + 63 normal)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Negative Ratio: 1.0 (Strictly enforced 1:1 balance for unbiased training)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Summary File: data/processed/dataset_summary.json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794760"/>
            <a:ext cx="5257800" cy="24688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0D9488"/>
                </a:solidFill>
              </a:defRPr>
            </a:pPr>
            <a:r>
              <a:t>📄 Standard LLaVA / ShareGPT Multimodal Schema</a:t>
            </a:r>
          </a:p>
          <a:p>
            <a:pPr>
              <a:defRPr sz="850">
                <a:solidFill>
                  <a:srgbClr val="00FFC8"/>
                </a:solidFill>
                <a:latin typeface="Courier New"/>
              </a:defRPr>
            </a:pPr>
            <a:r>
              <a:t>{</a:t>
            </a:r>
            <a:br/>
            <a:r>
              <a:t>  "id": "frac_IMG0000019",</a:t>
            </a:r>
            <a:br/>
            <a:r>
              <a:t>  "image": "images/Fractured/IMG0000019.jpg",</a:t>
            </a:r>
            <a:br/>
            <a:r>
              <a:t>  "is_fractured": true,</a:t>
            </a:r>
            <a:br/>
            <a:r>
              <a:t>  "conversations": [</a:t>
            </a:r>
            <a:br/>
            <a:r>
              <a:t>    {"from": "human", "value": "&lt;image&gt;\nExamine radiograph."},</a:t>
            </a:r>
            <a:br/>
            <a:r>
              <a:t>    {"from": "gpt", "value": "FINDINGS: Acute fracture at [1242, 929, 1515, 1076]. Impression: Distal radius fracture."}</a:t>
            </a:r>
            <a:br/>
            <a:r>
              <a:t>  ]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9. REVIEW 1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Work Done So Far (Review 1 Deliverables)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85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10/13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0876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1645920"/>
                <a:gridCol w="4967935"/>
              </a:tblGrid>
              <a:tr h="77724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Milestone Module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Associated Script / Path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Review 1 Status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FFFFFF"/>
                          </a:solidFill>
                        </a:defRPr>
                      </a:pPr>
                      <a:r>
                        <a:t>Delivered Capability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Layer 1: Dataset Ingestion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download_dataset.py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Automated script fetching, verifying MD5 checksum, and extracting 4,083 scans.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Layer 2: Preprocessing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src/dataset_to_vlm.py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Enforced 1:1 balanced sampling; created 1,438 LLaVA dialogue pairs (train: 1,148, val: 164, test: 126).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Layer 5: Diagnostic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src/inference.py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Established inference engine with dual-mode evaluation, coordinate localization, and Med-VQA.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Layer 6: Report Generator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src/report_generator.py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Built automated clinical report generator producing structured text and signed PDF documents.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34155"/>
                          </a:solidFill>
                        </a:defRPr>
                      </a:pPr>
                      <a:r>
                        <a:t>Layer 6: Med-VQA Web UI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src/app.py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✅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334155"/>
                          </a:solidFill>
                        </a:defRPr>
                      </a:pPr>
                      <a:r>
                        <a:t>Developed interactive Gradio web application for X-ray upload, conversational VQA, and report download.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10. 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Proposed Methodology &amp;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85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11/13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0284C7"/>
                </a:solidFill>
              </a:defRPr>
            </a:pPr>
            <a:r>
              <a:t>Layer 1: Data Ingestion:  </a:t>
            </a:r>
            <a:r>
              <a:rPr b="0" sz="1000">
                <a:solidFill>
                  <a:srgbClr val="334155"/>
                </a:solidFill>
              </a:rPr>
              <a:t>4,083 FracAtlas radiographs + COCO bounding box &amp; mask annotations (download_dataset.py)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13432"/>
            <a:ext cx="10728655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0284C7"/>
                </a:solidFill>
              </a:defRPr>
            </a:pPr>
            <a:r>
              <a:t>Layer 2: Preprocessing Pipeline:  </a:t>
            </a:r>
            <a:r>
              <a:rPr b="0" sz="1000">
                <a:solidFill>
                  <a:srgbClr val="334155"/>
                </a:solidFill>
              </a:rPr>
              <a:t>1:1 balanced sampling producing 1,438 LLaVA-format conversation pairs with clinical queries (src/dataset_to_vlm.py)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18104"/>
            <a:ext cx="10728655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0D9488"/>
                </a:solidFill>
              </a:defRPr>
            </a:pPr>
            <a:r>
              <a:t>Layer 3: Foundation VLM Baseline:  </a:t>
            </a:r>
            <a:r>
              <a:rPr b="0" sz="1000">
                <a:solidFill>
                  <a:srgbClr val="334155"/>
                </a:solidFill>
              </a:rPr>
              <a:t>Qwen2-VL-2B-Instruct multimodal backbone with dynamic-resolution Vision Transformer (ViT) &amp; M-RoPE embeddings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22776"/>
            <a:ext cx="10728655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0D9488"/>
                </a:solidFill>
              </a:defRPr>
            </a:pPr>
            <a:r>
              <a:t>Layer 4: Parameter-Efficient Tuning:  </a:t>
            </a:r>
            <a:r>
              <a:rPr b="0" sz="1000">
                <a:solidFill>
                  <a:srgbClr val="334155"/>
                </a:solidFill>
              </a:rPr>
              <a:t>QLoRA 4-bit NormalFloat (NF4) via BitsAndBytes on attention projections (q_proj, k_proj, v_proj, o_proj)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27448"/>
            <a:ext cx="10728655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0F172A"/>
                </a:solidFill>
              </a:defRPr>
            </a:pPr>
            <a:r>
              <a:t>Layer 5: Diagnostic Inference Core:  </a:t>
            </a:r>
            <a:r>
              <a:rPr b="0" sz="1000">
                <a:solidFill>
                  <a:srgbClr val="334155"/>
                </a:solidFill>
              </a:rPr>
              <a:t>Central inference engine executing fracture detection, coordinate localization, and routing to clinical outputs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32120"/>
            <a:ext cx="10728655" cy="6949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0F172A"/>
                </a:solidFill>
              </a:defRPr>
            </a:pPr>
            <a:r>
              <a:t>Layer 6: System Outputs &amp; Interfaces:  </a:t>
            </a:r>
            <a:r>
              <a:rPr b="0" sz="1000">
                <a:solidFill>
                  <a:srgbClr val="334155"/>
                </a:solidFill>
              </a:rPr>
              <a:t>Interactive Gradio Med-VQA Chat UI (src/app.py) + Automated ACR Clinical Radiology PDF Reports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11. SYSTEM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System &amp; Technical Specifications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85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12/13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284C7"/>
                </a:solidFill>
              </a:defRPr>
            </a:pPr>
            <a:r>
              <a:t>💻 Hardware Specifications</a:t>
            </a:r>
          </a:p>
          <a:p>
            <a:br/>
            <a:pPr>
              <a:defRPr b="1" sz="1050">
                <a:solidFill>
                  <a:srgbClr val="0F172A"/>
                </a:solidFill>
              </a:defRPr>
            </a:pPr>
            <a:r>
              <a:t>• Primary Target Workstation: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Consumer Laptop / Lab Workstation (Dell G15 / RTX 3050)</a:t>
            </a:r>
          </a:p>
          <a:p>
            <a:br/>
            <a:pPr>
              <a:defRPr b="1" sz="1050">
                <a:solidFill>
                  <a:srgbClr val="0F172A"/>
                </a:solidFill>
              </a:defRPr>
            </a:pPr>
            <a:r>
              <a:t>• GPU VRAM Required: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6 GB VRAM minimum for QLoRA 4-bit local training</a:t>
            </a:r>
          </a:p>
          <a:p>
            <a:br/>
            <a:pPr>
              <a:defRPr b="1" sz="1050">
                <a:solidFill>
                  <a:srgbClr val="0F172A"/>
                </a:solidFill>
              </a:defRPr>
            </a:pPr>
            <a:r>
              <a:t>• Peak Training VRAM: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~3.8 GB (well within 6 GB VRAM capacity)</a:t>
            </a:r>
          </a:p>
          <a:p>
            <a:br/>
            <a:pPr>
              <a:defRPr b="1" sz="1050">
                <a:solidFill>
                  <a:srgbClr val="0F172A"/>
                </a:solidFill>
              </a:defRPr>
            </a:pPr>
            <a:r>
              <a:t>• System RAM: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16 GB DDR4 / DDR5 RAM</a:t>
            </a:r>
          </a:p>
          <a:p>
            <a:br/>
            <a:pPr>
              <a:defRPr b="1" sz="1050">
                <a:solidFill>
                  <a:srgbClr val="0F172A"/>
                </a:solidFill>
              </a:defRPr>
            </a:pPr>
            <a:r>
              <a:t>• Storage Required: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10 GB SSD space for dataset &amp; adapter weights</a:t>
            </a:r>
          </a:p>
          <a:p>
            <a:br/>
            <a:pPr>
              <a:defRPr b="1" sz="1050">
                <a:solidFill>
                  <a:srgbClr val="0F172A"/>
                </a:solidFill>
              </a:defRPr>
            </a:pPr>
            <a:r>
              <a:t>• Cloud Benchmark Option: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Google Colab Free Tier (NVIDIA Tesla T4 16 GB VRAM)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508760"/>
            <a:ext cx="52578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D9488"/>
                </a:solidFill>
              </a:defRPr>
            </a:pPr>
            <a:r>
              <a:t>⚙️ Software &amp; Library Stack</a:t>
            </a:r>
          </a:p>
          <a:p>
            <a:br/>
            <a:pPr>
              <a:defRPr b="1" sz="1050">
                <a:solidFill>
                  <a:srgbClr val="0F172A"/>
                </a:solidFill>
              </a:defRPr>
            </a:pPr>
            <a:r>
              <a:t>• Operating System: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Windows 11 / Linux (Ubuntu) / macOS</a:t>
            </a:r>
          </a:p>
          <a:p>
            <a:br/>
            <a:pPr>
              <a:defRPr b="1" sz="1050">
                <a:solidFill>
                  <a:srgbClr val="0F172A"/>
                </a:solidFill>
              </a:defRPr>
            </a:pPr>
            <a:r>
              <a:t>• Programming Language: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Python 3.10+</a:t>
            </a:r>
          </a:p>
          <a:p>
            <a:br/>
            <a:pPr>
              <a:defRPr b="1" sz="1050">
                <a:solidFill>
                  <a:srgbClr val="0F172A"/>
                </a:solidFill>
              </a:defRPr>
            </a:pPr>
            <a:r>
              <a:t>• Deep Learning Framework: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PyTorch 2.2+, CUDA 12.1, Torchvision</a:t>
            </a:r>
          </a:p>
          <a:p>
            <a:br/>
            <a:pPr>
              <a:defRPr b="1" sz="1050">
                <a:solidFill>
                  <a:srgbClr val="0F172A"/>
                </a:solidFill>
              </a:defRPr>
            </a:pPr>
            <a:r>
              <a:t>• Transformers &amp; Models: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HuggingFace Transformers 4.42+, Accelerate</a:t>
            </a:r>
          </a:p>
          <a:p>
            <a:br/>
            <a:pPr>
              <a:defRPr b="1" sz="1050">
                <a:solidFill>
                  <a:srgbClr val="0F172A"/>
                </a:solidFill>
              </a:defRPr>
            </a:pPr>
            <a:r>
              <a:t>• Quantization &amp; PEFT: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BitsAndBytes 0.43+ (4-bit NF4), PEFT 0.11+ (LoRA)</a:t>
            </a:r>
          </a:p>
          <a:p>
            <a:br/>
            <a:pPr>
              <a:defRPr b="1" sz="1050">
                <a:solidFill>
                  <a:srgbClr val="0F172A"/>
                </a:solidFill>
              </a:defRPr>
            </a:pPr>
            <a:r>
              <a:t>• UI &amp; PDF Authoring: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  Gradio 4.32+ (WebUI), ReportLab 4.1+ (PDF reports)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12. TIMELINE &amp;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96012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Arial"/>
              </a:defRPr>
            </a:pPr>
            <a:r>
              <a:t>Project Roadmap &amp; Semester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789920" y="411480"/>
            <a:ext cx="68580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4748B"/>
                </a:solidFill>
                <a:latin typeface="Arial"/>
              </a:defRPr>
            </a:pPr>
            <a:r>
              <a:t>13/13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10728655" cy="14447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D9488"/>
                </a:solidFill>
              </a:defRPr>
            </a:pPr>
            <a:r>
              <a:t>Phase 1: Foundation &amp; Preprocessing (Review 1 — ✅ COMPLETED)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Literature survey and clinical need analysis.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Automated dataset ingestion of 4,083 FracAtlas radiographs.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Multimodal preprocessing &amp; 1:1 balanced instruction dataset creation (1,438 conversation pairs).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Diagnostic inference pipeline scaffolding, Gradio WebUI prototype, and report generator setup.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728655" cy="14447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284C7"/>
                </a:solidFill>
              </a:defRPr>
            </a:pPr>
            <a:r>
              <a:t>Phase 2: Model Training &amp; Ablation Studies (Review 2 — UPCOMING)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Multi-epoch QLoRA fine-tuning execution on local RTX 3050 GPU and Colab T4.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Validation loss tracking, learning rate tuning, and gradient accumulation optimization.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Comparative ablation study: Zero-shot base model vs. Fine-tuned VLM.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Error analysis across subtle hairline and non-displaced fracture sub-types.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09160"/>
            <a:ext cx="10728655" cy="14447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Phase 3: Clinical Validation &amp; Final Defense (Review 3 / Final Review)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Rigorous benchmark evaluation: Sensitivity, Specificity, F1-score, and Confusion Matrix on held-out test set.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Final system integration into unified clinical Gradio web dashboard.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Dissertation preparation, final documentation, and viva defense.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